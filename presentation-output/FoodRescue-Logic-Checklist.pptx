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d024737a61432b" /><Relationship Type="http://schemas.openxmlformats.org/officeDocument/2006/relationships/extended-properties" Target="/docProps/app.xml" Id="Ra8d0ed9c50c24339" /><Relationship Type="http://schemas.openxmlformats.org/officeDocument/2006/relationships/officeDocument" Target="/ppt/presentation.xml" Id="Rf2bf15876c5f4c63" /></Relationships>
</file>

<file path=ppt/presentation.xml><?xml version="1.0" encoding="utf-8"?>
<p:presentation xmlns:p="http://schemas.openxmlformats.org/presentationml/2006/main">
  <p:sldMasterIdLst>
    <p:sldMasterId xmlns:r="http://schemas.openxmlformats.org/officeDocument/2006/relationships" id="2147483648" r:id="Rbe5b3f880ad845f4"/>
  </p:sldMasterIdLst>
  <p:notesMasterIdLst>
    <p:notesMasterId xmlns:r="http://schemas.openxmlformats.org/officeDocument/2006/relationships" r:id="Rd3b22a83177a42c3"/>
  </p:notesMasterIdLst>
  <p:sldIdLst>
    <p:sldId xmlns:r="http://schemas.openxmlformats.org/officeDocument/2006/relationships" id="256" r:id="R44a822f2012947b8"/>
    <p:sldId xmlns:r="http://schemas.openxmlformats.org/officeDocument/2006/relationships" id="257" r:id="R9a869e0c17a049e3"/>
    <p:sldId xmlns:r="http://schemas.openxmlformats.org/officeDocument/2006/relationships" id="258" r:id="Rc2a96910a37f4cff"/>
    <p:sldId xmlns:r="http://schemas.openxmlformats.org/officeDocument/2006/relationships" id="259" r:id="R3565e50b717448a0"/>
    <p:sldId xmlns:r="http://schemas.openxmlformats.org/officeDocument/2006/relationships" id="260" r:id="R93dbf40f8d3c4f86"/>
    <p:sldId xmlns:r="http://schemas.openxmlformats.org/officeDocument/2006/relationships" id="261" r:id="R23481d5098734be2"/>
    <p:sldId xmlns:r="http://schemas.openxmlformats.org/officeDocument/2006/relationships" id="262" r:id="R6790399588334107"/>
    <p:sldId xmlns:r="http://schemas.openxmlformats.org/officeDocument/2006/relationships" id="263" r:id="Reb411d3d42f14c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f38c4f23d44f50" /><Relationship Type="http://schemas.openxmlformats.org/officeDocument/2006/relationships/slideMaster" Target="/ppt/slideMasters/slideMaster1.xml" Id="Rbe5b3f880ad845f4" /><Relationship Type="http://schemas.openxmlformats.org/officeDocument/2006/relationships/notesMaster" Target="/ppt/notesMasters/notesMaster1.xml" Id="Rd3b22a83177a42c3" /><Relationship Type="http://schemas.openxmlformats.org/officeDocument/2006/relationships/presProps" Target="/ppt/presProps.xml" Id="R6e46c227ef604d7e" /><Relationship Type="http://schemas.openxmlformats.org/officeDocument/2006/relationships/tableStyles" Target="/ppt/tableStyles.xml" Id="R67a7961b8b884894" /><Relationship Type="http://schemas.openxmlformats.org/officeDocument/2006/relationships/slide" Target="/ppt/slides/slide1.xml" Id="R44a822f2012947b8" /><Relationship Type="http://schemas.openxmlformats.org/officeDocument/2006/relationships/slide" Target="/ppt/slides/slide2.xml" Id="R9a869e0c17a049e3" /><Relationship Type="http://schemas.openxmlformats.org/officeDocument/2006/relationships/slide" Target="/ppt/slides/slide3.xml" Id="Rc2a96910a37f4cff" /><Relationship Type="http://schemas.openxmlformats.org/officeDocument/2006/relationships/slide" Target="/ppt/slides/slide4.xml" Id="R3565e50b717448a0" /><Relationship Type="http://schemas.openxmlformats.org/officeDocument/2006/relationships/slide" Target="/ppt/slides/slide5.xml" Id="R93dbf40f8d3c4f86" /><Relationship Type="http://schemas.openxmlformats.org/officeDocument/2006/relationships/slide" Target="/ppt/slides/slide6.xml" Id="R23481d5098734be2" /><Relationship Type="http://schemas.openxmlformats.org/officeDocument/2006/relationships/slide" Target="/ppt/slides/slide7.xml" Id="R6790399588334107" /><Relationship Type="http://schemas.openxmlformats.org/officeDocument/2006/relationships/slide" Target="/ppt/slides/slide8.xml" Id="Reb411d3d42f14c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1f8dfbde514b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66fdf01e04483a" /><Relationship Type="http://schemas.openxmlformats.org/officeDocument/2006/relationships/notesMaster" Target="/ppt/notesMasters/notesMaster1.xml" Id="Rdace7b73c4fd45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724e441f614b82" /><Relationship Type="http://schemas.openxmlformats.org/officeDocument/2006/relationships/notesMaster" Target="/ppt/notesMasters/notesMaster1.xml" Id="R03548561dc1e4f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3b9b3d5f1c4a04" /><Relationship Type="http://schemas.openxmlformats.org/officeDocument/2006/relationships/notesMaster" Target="/ppt/notesMasters/notesMaster1.xml" Id="R3c0ddfaa5d5948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8083a0f83547f9" /><Relationship Type="http://schemas.openxmlformats.org/officeDocument/2006/relationships/notesMaster" Target="/ppt/notesMasters/notesMaster1.xml" Id="Re25bc8c9e42146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22618ada644a11" /><Relationship Type="http://schemas.openxmlformats.org/officeDocument/2006/relationships/notesMaster" Target="/ppt/notesMasters/notesMaster1.xml" Id="R310ab69b22b941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80908cf7a847f2" /><Relationship Type="http://schemas.openxmlformats.org/officeDocument/2006/relationships/notesMaster" Target="/ppt/notesMasters/notesMaster1.xml" Id="R7c29ebe2de794a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708ab505c94a0f" /><Relationship Type="http://schemas.openxmlformats.org/officeDocument/2006/relationships/notesMaster" Target="/ppt/notesMasters/notesMaster1.xml" Id="R9ec75518227848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9422105c104469" /><Relationship Type="http://schemas.openxmlformats.org/officeDocument/2006/relationships/notesMaster" Target="/ppt/notesMasters/notesMaster1.xml" Id="R64738536edec41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FoodRescue as the example website and explain that this deck walks through seven frontend logic checklist items.</a:t>
            </a:r>
          </a:p>
          <a:p xmlns:a="http://schemas.openxmlformats.org/drawingml/2006/main">
            <a:r>
              <a:t>All UI screenshots come from the built-in Student demo account. The feed marks its listings as samples. I did not create a post or submit a claim while capturing the screens.</a:t>
            </a:r>
          </a:p>
          <a:p xmlns:a="http://schemas.openxmlformats.org/drawingml/2006/main">
            <a:r>
              <a:t>The live site is running on this computer at http://127.0.0.1:5173/.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gives related steps one name so the form can call them when needed.</a:t>
            </a:r>
          </a:p>
          <a:p xmlns:a="http://schemas.openxmlformats.org/drawingml/2006/main">
            <a:r>
              <a:t>In PostPage.jsx, handleSubmit validates the draft first. The shown excerpt converts hours and minutes into total hours, then passes the validated values to createFoodPost.</a:t>
            </a:r>
          </a:p>
          <a:p xmlns:a="http://schemas.openxmlformats.org/drawingml/2006/main">
            <a:r>
              <a:t>The screenshot shows the form but does not submit it.</a:t>
            </a:r>
          </a:p>
          <a:p xmlns:a="http://schemas.openxmlformats.org/drawingml/2006/main">
            <a:r>
              <a:t>Source: apps/frontend/src/modules/post/PostPage.jsx, lines 57 to 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filter uses boolean logic to decide which posts remain in the feed.</a:t>
            </a:r>
          </a:p>
          <a:p xmlns:a="http://schemas.openxmlformats.org/drawingml/2006/main">
            <a:r>
              <a:t>matchCat is true for the All category or when the post category matches. matchSearch is true for an empty search or when the food name or pickup address contains the search text. The final return requires both conditions with &amp;&amp;.</a:t>
            </a:r>
          </a:p>
          <a:p xmlns:a="http://schemas.openxmlformats.org/drawingml/2006/main">
            <a:r>
              <a:t>The screenshot shows the Prepared Meals filter selected. It only changes the visible results.</a:t>
            </a:r>
          </a:p>
          <a:p xmlns:a="http://schemas.openxmlformats.org/drawingml/2006/main">
            <a:r>
              <a:t>Source: apps/frontend/src/modules/feed/HomeFeed.jsx, lines 67 to 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button can call a function when someone clicks it. In FoodCard.jsx, onClick={handleClaim} connects the button to the handler.</a:t>
            </a:r>
          </a:p>
          <a:p xmlns:a="http://schemas.openxmlformats.org/drawingml/2006/main">
            <a:r>
              <a:t>The handler stops the click from bubbling, validates the selected portion, sets the loading state, and calls claimFoodPost. This capture does not click the button, so it does not create a claim.</a:t>
            </a:r>
          </a:p>
          <a:p xmlns:a="http://schemas.openxmlformats.org/drawingml/2006/main">
            <a:r>
              <a:t>The banner in the app says sample claims stay on this device and do not reserve real food.</a:t>
            </a:r>
          </a:p>
          <a:p xmlns:a="http://schemas.openxmlformats.org/drawingml/2006/main">
            <a:r>
              <a:t>Source: apps/frontend/src/components/food/FoodCard.jsx, lines 76 to 87 and 209 to 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React, a prop is data a parent component gives to a child component.</a:t>
            </a:r>
          </a:p>
          <a:p xmlns:a="http://schemas.openxmlformats.org/drawingml/2006/main">
            <a:r>
              <a:t>App passes the same userProfile object into several routes, including HomeFeed, MapPage, and PostPage. ProfilePage also receives this prop and uses its full_name, email, and role to fill the profile card.</a:t>
            </a:r>
          </a:p>
          <a:p xmlns:a="http://schemas.openxmlformats.org/drawingml/2006/main">
            <a:r>
              <a:t>The screenshot uses the built-in Student demo profile.</a:t>
            </a:r>
          </a:p>
          <a:p xmlns:a="http://schemas.openxmlformats.org/drawingml/2006/main">
            <a:r>
              <a:t>Source: apps/frontend/src/App.jsx, lines 79 to 92; apps/frontend/src/modules/profile/ProfilePage.jsx, profile card header.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feed stores posts in an array. The map method repeats the same FoodCard component for each post in the filtered array.</a:t>
            </a:r>
          </a:p>
          <a:p xmlns:a="http://schemas.openxmlformats.org/drawingml/2006/main">
            <a:r>
              <a:t>The key prop uses post.id so React can distinguish list items when results change.</a:t>
            </a:r>
          </a:p>
          <a:p xmlns:a="http://schemas.openxmlformats.org/drawingml/2006/main">
            <a:r>
              <a:t>All visible listings in this screenshot are marked as samples.</a:t>
            </a:r>
          </a:p>
          <a:p xmlns:a="http://schemas.openxmlformats.org/drawingml/2006/main">
            <a:r>
              <a:t>Source: apps/frontend/src/modules/feed/HomeFeed.jsx, lines 209 to 217.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service function keeps database or demo-data details outside the React page.</a:t>
            </a:r>
          </a:p>
          <a:p xmlns:a="http://schemas.openxmlformats.org/drawingml/2006/main">
            <a:r>
              <a:t>HomeFeed calls getFoodPosts when it loads. The service checks whether Supabase is configured and, when it is, requests active food_posts ordered by creation date. The service also contains the local sample-data path used by the demo.</a:t>
            </a:r>
          </a:p>
          <a:p xmlns:a="http://schemas.openxmlformats.org/drawingml/2006/main">
            <a:r>
              <a:t>The details dialog shows a sample listing that the feed loaded. No claim was submitted.</a:t>
            </a:r>
          </a:p>
          <a:p xmlns:a="http://schemas.openxmlformats.org/drawingml/2006/main">
            <a:r>
              <a:t>Sources: apps/frontend/src/services/food.js, lines 22 to 45; apps/frontend/src/modules/feed/HomeFeed.jsx, lines 35 to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Clear names tell the reader what a value represents without needing to trace every operation.</a:t>
            </a:r>
          </a:p>
          <a:p xmlns:a="http://schemas.openxmlformats.org/drawingml/2006/main">
            <a:r>
              <a:t>The comment marks the time-remaining calculation. The variable names show the sequence: read the expiry timestamp, calculate the minutes remaining, then split that into hours and minutes for the interface.</a:t>
            </a:r>
          </a:p>
          <a:p xmlns:a="http://schemas.openxmlformats.org/drawingml/2006/main">
            <a:r>
              <a:t>The UI displays the result as a short time-left label.</a:t>
            </a:r>
          </a:p>
          <a:p xmlns:a="http://schemas.openxmlformats.org/drawingml/2006/main">
            <a:r>
              <a:t>Source: apps/frontend/src/components/food/FoodCard.jsx, lines 66 to 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f3e6e7f12d4b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624dcc265e45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460ef6e9904c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ee6533ce4a43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8bd12a177543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b8113473d64f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27CB3B-8D0A-485E-AE73-4B89868D0FF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CDFD54-6661-40A1-95B3-6649ECB38D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3AC7804-6D86-4729-8BE5-073105B48D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8CF2FF-6F58-442A-AF44-69B7E500F8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425509-C710-4C06-A279-1221C824AF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3A6BF0-DCC3-4044-AC18-761B07D523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C11D34-754D-4B10-88E8-8DA0D4C8B1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8B3F65-7A1E-45BE-920C-2D14CDBF04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B73BA0-0190-4E05-BFE2-EF79040DE2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DE71E7-E86B-4AA4-8D31-DF7218B374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a2643c1f8e468b" /><Relationship Type="http://schemas.openxmlformats.org/officeDocument/2006/relationships/slideLayout" Target="/ppt/slideLayouts/slideLayout1.xml" Id="R225acd2efe4546a6" /><Relationship Type="http://schemas.openxmlformats.org/officeDocument/2006/relationships/slideLayout" Target="/ppt/slideLayouts/slideLayout2.xml" Id="Rdb817de55f834cbc" /><Relationship Type="http://schemas.openxmlformats.org/officeDocument/2006/relationships/slideLayout" Target="/ppt/slideLayouts/slideLayout3.xml" Id="Re1bd9d206e9a4127" /><Relationship Type="http://schemas.openxmlformats.org/officeDocument/2006/relationships/slideLayout" Target="/ppt/slideLayouts/slideLayout4.xml" Id="R17b5a8a4c7424fa8" /><Relationship Type="http://schemas.openxmlformats.org/officeDocument/2006/relationships/slideLayout" Target="/ppt/slideLayouts/slideLayout5.xml" Id="Rf87d13a7421f427f" /><Relationship Type="http://schemas.openxmlformats.org/officeDocument/2006/relationships/slideLayout" Target="/ppt/slideLayouts/slideLayout6.xml" Id="R6f7e3a3009804c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5acd2efe4546a6"/>
    <p:sldLayoutId xmlns:r="http://schemas.openxmlformats.org/officeDocument/2006/relationships" id="2147483650" r:id="Rdb817de55f834cbc"/>
    <p:sldLayoutId xmlns:r="http://schemas.openxmlformats.org/officeDocument/2006/relationships" id="2147483651" r:id="Re1bd9d206e9a4127"/>
    <p:sldLayoutId xmlns:r="http://schemas.openxmlformats.org/officeDocument/2006/relationships" id="2147483652" r:id="R17b5a8a4c7424fa8"/>
    <p:sldLayoutId xmlns:r="http://schemas.openxmlformats.org/officeDocument/2006/relationships" id="2147483653" r:id="Rf87d13a7421f427f"/>
    <p:sldLayoutId xmlns:r="http://schemas.openxmlformats.org/officeDocument/2006/relationships" id="2147483654" r:id="R6f7e3a3009804c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487f8d749c479e" /><Relationship Type="http://schemas.openxmlformats.org/officeDocument/2006/relationships/notesSlide" Target="/ppt/notesSlides/notesSlide1.xml" Id="Raefdbaad49c84c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d47d3476d74b84" /><Relationship Type="http://schemas.openxmlformats.org/officeDocument/2006/relationships/image" Target="/ppt/media/image.png" Id="Rc02e72fe58d94498" /><Relationship Type="http://schemas.openxmlformats.org/officeDocument/2006/relationships/image" Target="/ppt/media/image2.png" Id="R46dfd92005324ac7" /><Relationship Type="http://schemas.openxmlformats.org/officeDocument/2006/relationships/notesSlide" Target="/ppt/notesSlides/notesSlide2.xml" Id="R0d028729845b48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6a684f6b854f7e" /><Relationship Type="http://schemas.openxmlformats.org/officeDocument/2006/relationships/image" Target="/ppt/media/image3.png" Id="R5bc6ed2cda68437b" /><Relationship Type="http://schemas.openxmlformats.org/officeDocument/2006/relationships/image" Target="/ppt/media/image4.png" Id="Rb8f36e62876b4ec1" /><Relationship Type="http://schemas.openxmlformats.org/officeDocument/2006/relationships/notesSlide" Target="/ppt/notesSlides/notesSlide3.xml" Id="Rf4ca6bd5cbb448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4173f3254f4f25" /><Relationship Type="http://schemas.openxmlformats.org/officeDocument/2006/relationships/image" Target="/ppt/media/image5.png" Id="R6834b13d1675400a" /><Relationship Type="http://schemas.openxmlformats.org/officeDocument/2006/relationships/image" Target="/ppt/media/image6.png" Id="Rcb07d4161d644b8b" /><Relationship Type="http://schemas.openxmlformats.org/officeDocument/2006/relationships/notesSlide" Target="/ppt/notesSlides/notesSlide4.xml" Id="R995b3c21dc5c4c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5d689262524bb7" /><Relationship Type="http://schemas.openxmlformats.org/officeDocument/2006/relationships/image" Target="/ppt/media/image7.png" Id="R010f308390284b52" /><Relationship Type="http://schemas.openxmlformats.org/officeDocument/2006/relationships/image" Target="/ppt/media/image8.png" Id="R09f038aa4a024de1" /><Relationship Type="http://schemas.openxmlformats.org/officeDocument/2006/relationships/notesSlide" Target="/ppt/notesSlides/notesSlide5.xml" Id="Rd78adc6e05414b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a57ac6934343b8" /><Relationship Type="http://schemas.openxmlformats.org/officeDocument/2006/relationships/image" Target="/ppt/media/image9.png" Id="R1130aab9b22a4f85" /><Relationship Type="http://schemas.openxmlformats.org/officeDocument/2006/relationships/image" Target="/ppt/media/image10.png" Id="Rf92a8d774708442b" /><Relationship Type="http://schemas.openxmlformats.org/officeDocument/2006/relationships/notesSlide" Target="/ppt/notesSlides/notesSlide6.xml" Id="R355c2ba05ddb48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6a9432ba2f4717" /><Relationship Type="http://schemas.openxmlformats.org/officeDocument/2006/relationships/image" Target="/ppt/media/image11.png" Id="Reaf44489828d42e0" /><Relationship Type="http://schemas.openxmlformats.org/officeDocument/2006/relationships/image" Target="/ppt/media/image12.png" Id="R076d73929be245a9" /><Relationship Type="http://schemas.openxmlformats.org/officeDocument/2006/relationships/notesSlide" Target="/ppt/notesSlides/notesSlide7.xml" Id="Rbbd61457335544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9ae36148114ec7" /><Relationship Type="http://schemas.openxmlformats.org/officeDocument/2006/relationships/image" Target="/ppt/media/image13.png" Id="R0b3431834e7f4b4a" /><Relationship Type="http://schemas.openxmlformats.org/officeDocument/2006/relationships/image" Target="/ppt/media/image14.png" Id="Rfc9a404cb12f44d0" /><Relationship Type="http://schemas.openxmlformats.org/officeDocument/2006/relationships/notesSlide" Target="/ppt/notesSlides/notesSlide8.xml" Id="Rc6b03b8ef8cf4ec1" /></Relationships>
</file>

<file path=ppt/slides/slide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90D4D9-BCC4-4323-8F48-07CCDE0F796A}"/>
              </a:ext>
            </a:extLst>
          </p:cNvPr>
          <p:cNvSpPr>
            <a:spLocks xmlns:a="http://schemas.openxmlformats.org/drawingml/2006/main" noGrp="1"/>
          </p:cNvSpPr>
          <p:nvPr/>
        </p:nvSpPr>
        <p:spPr>
          <a:xfrm xmlns:a="http://schemas.openxmlformats.org/drawingml/2006/main">
            <a:off x="685800" y="666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275" b="1">
                <a:solidFill>
                  <a:srgbClr val="26783B"/>
                </a:solidFill>
                <a:latin typeface="Arial"/>
                <a:ea typeface="Arial"/>
                <a:cs typeface="Arial"/>
              </a:rPr>
              <a:t>FOODRESCUE  /  FRONTEND LOGIC</a:t>
            </a:r>
          </a:p>
        </p:txBody>
      </p:sp>
      <p:sp>
        <p:nvSpPr>
          <p:cNvPr id="2" name="">
            <a:extLst xmlns:a="http://schemas.openxmlformats.org/drawingml/2006/main">
              <a:ext uri="{FF2B5EF4-FFF2-40B4-BE49-F238E27FC236}">
                <a16:creationId xmlns:a16="http://schemas.microsoft.com/office/drawing/2014/main" id="{449F0D7B-1572-449C-8F2A-BA9AD1A9DE0C}"/>
              </a:ext>
            </a:extLst>
          </p:cNvPr>
          <p:cNvSpPr>
            <a:spLocks xmlns:a="http://schemas.openxmlformats.org/drawingml/2006/main" noGrp="1"/>
          </p:cNvSpPr>
          <p:nvPr/>
        </p:nvSpPr>
        <p:spPr>
          <a:xfrm xmlns:a="http://schemas.openxmlformats.org/drawingml/2006/main">
            <a:off x="685800" y="1381125"/>
            <a:ext cx="10287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5100" b="1">
                <a:solidFill>
                  <a:srgbClr val="182019"/>
                </a:solidFill>
                <a:latin typeface="Arial"/>
                <a:ea typeface="Arial"/>
                <a:cs typeface="Arial"/>
              </a:rPr>
              <a:t>Logic checklist,</a:t>
            </a:r>
            <a:br>
              <a:rPr sz="5100" b="1">
                <a:solidFill>
                  <a:srgbClr val="182019"/>
                </a:solidFill>
                <a:latin typeface="Arial"/>
                <a:ea typeface="Arial"/>
                <a:cs typeface="Arial"/>
              </a:rPr>
            </a:br>
            <a:r>
              <a:rPr sz="5100" b="1">
                <a:solidFill>
                  <a:srgbClr val="182019"/>
                </a:solidFill>
                <a:latin typeface="Arial"/>
                <a:ea typeface="Arial"/>
                <a:cs typeface="Arial"/>
              </a:rPr>
              <a:t>explained</a:t>
            </a:r>
          </a:p>
        </p:txBody>
      </p:sp>
      <p:sp>
        <p:nvSpPr>
          <p:cNvPr id="3" name="">
            <a:extLst xmlns:a="http://schemas.openxmlformats.org/drawingml/2006/main">
              <a:ext uri="{FF2B5EF4-FFF2-40B4-BE49-F238E27FC236}">
                <a16:creationId xmlns:a16="http://schemas.microsoft.com/office/drawing/2014/main" id="{063C8FF3-74BC-479C-9DD5-21DBC36BD213}"/>
              </a:ext>
            </a:extLst>
          </p:cNvPr>
          <p:cNvSpPr>
            <a:spLocks xmlns:a="http://schemas.openxmlformats.org/drawingml/2006/main" noGrp="1"/>
          </p:cNvSpPr>
          <p:nvPr/>
        </p:nvSpPr>
        <p:spPr>
          <a:xfrm xmlns:a="http://schemas.openxmlformats.org/drawingml/2006/main">
            <a:off x="723900" y="3429000"/>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2175" b="0">
                <a:solidFill>
                  <a:srgbClr val="56665B"/>
                </a:solidFill>
                <a:latin typeface="Arial"/>
                <a:ea typeface="Arial"/>
                <a:cs typeface="Arial"/>
              </a:rPr>
              <a:t>Seven frontend ideas, shown in the app and the source code behind each one.</a:t>
            </a:r>
          </a:p>
        </p:txBody>
      </p:sp>
      <p:sp>
        <p:nvSpPr>
          <p:cNvPr id="4" name="">
            <a:extLst xmlns:a="http://schemas.openxmlformats.org/drawingml/2006/main">
              <a:ext uri="{FF2B5EF4-FFF2-40B4-BE49-F238E27FC236}">
                <a16:creationId xmlns:a16="http://schemas.microsoft.com/office/drawing/2014/main" id="{65D0179B-F8E7-45B7-A7AE-7CDECC3ECA56}"/>
              </a:ext>
            </a:extLst>
          </p:cNvPr>
          <p:cNvSpPr>
            <a:spLocks xmlns:a="http://schemas.openxmlformats.org/drawingml/2006/main" noGrp="1"/>
          </p:cNvSpPr>
          <p:nvPr/>
        </p:nvSpPr>
        <p:spPr>
          <a:xfrm xmlns:a="http://schemas.openxmlformats.org/drawingml/2006/main">
            <a:off x="723900" y="468630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800" b="1">
                <a:solidFill>
                  <a:srgbClr val="26783B"/>
                </a:solidFill>
                <a:latin typeface="Arial"/>
                <a:ea typeface="Arial"/>
                <a:cs typeface="Arial"/>
              </a:rPr>
              <a:t>Live site on this device:  http://127.0.0.1:5173/</a:t>
            </a:r>
          </a:p>
        </p:txBody>
      </p:sp>
      <p:sp>
        <p:nvSpPr>
          <p:cNvPr id="5" name="">
            <a:extLst xmlns:a="http://schemas.openxmlformats.org/drawingml/2006/main">
              <a:ext uri="{FF2B5EF4-FFF2-40B4-BE49-F238E27FC236}">
                <a16:creationId xmlns:a16="http://schemas.microsoft.com/office/drawing/2014/main" id="{60DBD7DC-644C-4861-91E7-E9DAA0DDA2CE}"/>
              </a:ext>
            </a:extLst>
          </p:cNvPr>
          <p:cNvSpPr>
            <a:spLocks xmlns:a="http://schemas.openxmlformats.org/drawingml/2006/main" noGrp="1"/>
          </p:cNvSpPr>
          <p:nvPr/>
        </p:nvSpPr>
        <p:spPr>
          <a:xfrm xmlns:a="http://schemas.openxmlformats.org/drawingml/2006/main">
            <a:off x="723900" y="552450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425" b="0">
                <a:solidFill>
                  <a:srgbClr val="56665B"/>
                </a:solidFill>
                <a:latin typeface="Arial"/>
                <a:ea typeface="Arial"/>
                <a:cs typeface="Arial"/>
              </a:rPr>
              <a:t>Built-in Student demo. Sample listings only. No posts or claims were submitted while capturing.</a:t>
            </a:r>
          </a:p>
        </p:txBody>
      </p:sp>
    </p:spTree>
    <p:extLst>
      <p:ext uri="{BB962C8B-B14F-4D97-AF65-F5344CB8AC3E}">
        <p14:creationId xmlns:p14="http://schemas.microsoft.com/office/powerpoint/2010/main" val="855431322"/>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124ED32-E95F-4D25-8CC7-F5594DEF906C}"/>
              </a:ext>
            </a:extLst>
          </p:cNvPr>
          <p:cNvSpPr>
            <a:spLocks xmlns:a="http://schemas.openxmlformats.org/drawingml/2006/main" noGrp="1"/>
          </p:cNvSpPr>
          <p:nvPr/>
        </p:nvSpPr>
        <p:spPr>
          <a:xfrm xmlns:a="http://schemas.openxmlformats.org/drawingml/2006/main">
            <a:off x="609600" y="2095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200" b="1">
                <a:solidFill>
                  <a:srgbClr val="26783B"/>
                </a:solidFill>
                <a:latin typeface="Arial"/>
                <a:ea typeface="Arial"/>
                <a:cs typeface="Arial"/>
              </a:rPr>
              <a:t>CHECKLIST ITEM 01 OF 07</a:t>
            </a:r>
          </a:p>
        </p:txBody>
      </p:sp>
      <p:sp>
        <p:nvSpPr>
          <p:cNvPr id="2" name="">
            <a:extLst xmlns:a="http://schemas.openxmlformats.org/drawingml/2006/main">
              <a:ext uri="{FF2B5EF4-FFF2-40B4-BE49-F238E27FC236}">
                <a16:creationId xmlns:a16="http://schemas.microsoft.com/office/drawing/2014/main" id="{BB08EA1C-E1BF-419F-8D3C-306A8E4FEA82}"/>
              </a:ext>
            </a:extLst>
          </p:cNvPr>
          <p:cNvSpPr>
            <a:spLocks xmlns:a="http://schemas.openxmlformats.org/drawingml/2006/main" noGrp="1"/>
          </p:cNvSpPr>
          <p:nvPr/>
        </p:nvSpPr>
        <p:spPr>
          <a:xfrm xmlns:a="http://schemas.openxmlformats.org/drawingml/2006/main">
            <a:off x="609600" y="4953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3450" b="1">
                <a:solidFill>
                  <a:srgbClr val="182019"/>
                </a:solidFill>
                <a:latin typeface="Arial"/>
                <a:ea typeface="Arial"/>
                <a:cs typeface="Arial"/>
              </a:rPr>
              <a:t>Functions</a:t>
            </a:r>
          </a:p>
        </p:txBody>
      </p:sp>
      <p:sp>
        <p:nvSpPr>
          <p:cNvPr id="3" name="">
            <a:extLst xmlns:a="http://schemas.openxmlformats.org/drawingml/2006/main">
              <a:ext uri="{FF2B5EF4-FFF2-40B4-BE49-F238E27FC236}">
                <a16:creationId xmlns:a16="http://schemas.microsoft.com/office/drawing/2014/main" id="{E2BD9C92-55A9-4D47-B39C-C6A27F30A463}"/>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800" b="0">
                <a:solidFill>
                  <a:srgbClr val="56665B"/>
                </a:solidFill>
                <a:latin typeface="Arial"/>
                <a:ea typeface="Arial"/>
                <a:cs typeface="Arial"/>
              </a:rPr>
              <a:t>A function groups the steps for one task.</a:t>
            </a:r>
          </a:p>
        </p:txBody>
      </p:sp>
      <p:sp>
        <p:nvSpPr>
          <p:cNvPr id="4" name="">
            <a:extLst xmlns:a="http://schemas.openxmlformats.org/drawingml/2006/main">
              <a:ext uri="{FF2B5EF4-FFF2-40B4-BE49-F238E27FC236}">
                <a16:creationId xmlns:a16="http://schemas.microsoft.com/office/drawing/2014/main" id="{EBA3AB08-D711-4ED5-85E0-47BF872B5D39}"/>
              </a:ext>
            </a:extLst>
          </p:cNvPr>
          <p:cNvSpPr>
            <a:spLocks xmlns:a="http://schemas.openxmlformats.org/drawingml/2006/main" noGrp="1"/>
          </p:cNvSpPr>
          <p:nvPr/>
        </p:nvSpPr>
        <p:spPr>
          <a:xfrm xmlns:a="http://schemas.openxmlformats.org/drawingml/2006/main">
            <a:off x="609600" y="1762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IN THE APP</a:t>
            </a:r>
          </a:p>
        </p:txBody>
      </p:sp>
      <p:sp>
        <p:nvSpPr>
          <p:cNvPr id="5" name="">
            <a:extLst xmlns:a="http://schemas.openxmlformats.org/drawingml/2006/main">
              <a:ext uri="{FF2B5EF4-FFF2-40B4-BE49-F238E27FC236}">
                <a16:creationId xmlns:a16="http://schemas.microsoft.com/office/drawing/2014/main" id="{E1D5DDB6-0D5E-4AF8-8A4D-1AAE7D1C315D}"/>
              </a:ext>
            </a:extLst>
          </p:cNvPr>
          <p:cNvSpPr>
            <a:spLocks xmlns:a="http://schemas.openxmlformats.org/drawingml/2006/main" noGrp="1"/>
          </p:cNvSpPr>
          <p:nvPr/>
        </p:nvSpPr>
        <p:spPr>
          <a:xfrm xmlns:a="http://schemas.openxmlformats.org/drawingml/2006/main">
            <a:off x="4914900" y="17621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SOURCE CODE</a:t>
            </a:r>
          </a:p>
        </p:txBody>
      </p:sp>
      <p:pic>
        <p:nvPicPr>
          <p:cNvPr id="6" name="">
            <a:extLst xmlns:a="http://schemas.openxmlformats.org/drawingml/2006/main">
              <a:ext uri="{FF2B5EF4-FFF2-40B4-BE49-F238E27FC236}">
                <a16:creationId xmlns:a16="http://schemas.microsoft.com/office/drawing/2014/main" id="{C220C8CF-8968-4241-8834-9401E533D422}"/>
              </a:ext>
            </a:extLst>
          </p:cNvPr>
          <p:cNvPicPr>
            <a:picLocks xmlns:a="http://schemas.openxmlformats.org/drawingml/2006/main" noChangeAspect="1"/>
          </p:cNvPicPr>
          <p:nvPr/>
        </p:nvPicPr>
        <p:blipFill>
          <a:blip xmlns:r="http://schemas.openxmlformats.org/officeDocument/2006/relationships" xmlns:a="http://schemas.openxmlformats.org/drawingml/2006/main" r:embed="Rc02e72fe58d94498"/>
          <a:stretch xmlns:a="http://schemas.openxmlformats.org/drawingml/2006/main"/>
        </p:blipFill>
        <p:spPr>
          <a:xfrm xmlns:a="http://schemas.openxmlformats.org/drawingml/2006/main">
            <a:off x="1250795" y="2038350"/>
            <a:ext cx="2718110" cy="2857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8F95F8E4-C181-411C-9A87-15B6967FA782}"/>
              </a:ext>
            </a:extLst>
          </p:cNvPr>
          <p:cNvPicPr>
            <a:picLocks xmlns:a="http://schemas.openxmlformats.org/drawingml/2006/main" noChangeAspect="1"/>
          </p:cNvPicPr>
          <p:nvPr/>
        </p:nvPicPr>
        <p:blipFill>
          <a:blip xmlns:r="http://schemas.openxmlformats.org/officeDocument/2006/relationships" xmlns:a="http://schemas.openxmlformats.org/drawingml/2006/main" r:embed="R46dfd92005324ac7"/>
          <a:stretch xmlns:a="http://schemas.openxmlformats.org/drawingml/2006/main"/>
        </p:blipFill>
        <p:spPr>
          <a:xfrm xmlns:a="http://schemas.openxmlformats.org/drawingml/2006/main">
            <a:off x="5172145" y="2038350"/>
            <a:ext cx="6153011" cy="2857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A3AD3E4-E886-42E8-BA0B-2124283030C2}"/>
              </a:ext>
            </a:extLst>
          </p:cNvPr>
          <p:cNvSpPr>
            <a:spLocks xmlns:a="http://schemas.openxmlformats.org/drawingml/2006/main" noGrp="1"/>
          </p:cNvSpPr>
          <p:nvPr/>
        </p:nvSpPr>
        <p:spPr>
          <a:xfrm xmlns:a="http://schemas.openxmlformats.org/drawingml/2006/main">
            <a:off x="609600" y="4972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Screen: /app/post</a:t>
            </a:r>
          </a:p>
        </p:txBody>
      </p:sp>
      <p:sp>
        <p:nvSpPr>
          <p:cNvPr id="9" name="">
            <a:extLst xmlns:a="http://schemas.openxmlformats.org/drawingml/2006/main">
              <a:ext uri="{FF2B5EF4-FFF2-40B4-BE49-F238E27FC236}">
                <a16:creationId xmlns:a16="http://schemas.microsoft.com/office/drawing/2014/main" id="{08804B75-7F0C-48AE-A654-3D0CA3368C08}"/>
              </a:ext>
            </a:extLst>
          </p:cNvPr>
          <p:cNvSpPr>
            <a:spLocks xmlns:a="http://schemas.openxmlformats.org/drawingml/2006/main" noGrp="1"/>
          </p:cNvSpPr>
          <p:nvPr/>
        </p:nvSpPr>
        <p:spPr>
          <a:xfrm xmlns:a="http://schemas.openxmlformats.org/drawingml/2006/main">
            <a:off x="4914900" y="4972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Source: PostPage.jsx, lines 81 to 91</a:t>
            </a:r>
          </a:p>
        </p:txBody>
      </p:sp>
      <p:sp>
        <p:nvSpPr>
          <p:cNvPr id="10" name="">
            <a:extLst xmlns:a="http://schemas.openxmlformats.org/drawingml/2006/main">
              <a:ext uri="{FF2B5EF4-FFF2-40B4-BE49-F238E27FC236}">
                <a16:creationId xmlns:a16="http://schemas.microsoft.com/office/drawing/2014/main" id="{B6F91D11-8889-40CF-A1BD-B368201EC172}"/>
              </a:ext>
            </a:extLst>
          </p:cNvPr>
          <p:cNvSpPr>
            <a:spLocks xmlns:a="http://schemas.openxmlformats.org/drawingml/2006/main" noGrp="1"/>
          </p:cNvSpPr>
          <p:nvPr/>
        </p:nvSpPr>
        <p:spPr>
          <a:xfrm xmlns:a="http://schemas.openxmlformats.org/drawingml/2006/main">
            <a:off x="609600" y="53911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050" b="1">
                <a:solidFill>
                  <a:srgbClr val="26783B"/>
                </a:solidFill>
                <a:latin typeface="Arial"/>
                <a:ea typeface="Arial"/>
                <a:cs typeface="Arial"/>
              </a:rPr>
              <a:t>PRESENTER CUE</a:t>
            </a:r>
          </a:p>
        </p:txBody>
      </p:sp>
      <p:sp>
        <p:nvSpPr>
          <p:cNvPr id="11" name="">
            <a:extLst xmlns:a="http://schemas.openxmlformats.org/drawingml/2006/main">
              <a:ext uri="{FF2B5EF4-FFF2-40B4-BE49-F238E27FC236}">
                <a16:creationId xmlns:a16="http://schemas.microsoft.com/office/drawing/2014/main" id="{148369AF-A519-4CD3-B872-590D2B1368A0}"/>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650" b="0">
                <a:solidFill>
                  <a:srgbClr val="182019"/>
                </a:solidFill>
                <a:latin typeface="Arial"/>
                <a:ea typeface="Arial"/>
                <a:cs typeface="Arial"/>
              </a:rPr>
              <a:t>Here, handleSubmit validates the draft, calculates the expiry, and calls createFoodPost.</a:t>
            </a:r>
          </a:p>
        </p:txBody>
      </p:sp>
      <p:sp>
        <p:nvSpPr>
          <p:cNvPr id="12" name="">
            <a:extLst xmlns:a="http://schemas.openxmlformats.org/drawingml/2006/main">
              <a:ext uri="{FF2B5EF4-FFF2-40B4-BE49-F238E27FC236}">
                <a16:creationId xmlns:a16="http://schemas.microsoft.com/office/drawing/2014/main" id="{C661BC8D-CB84-4434-906A-AC698CA043DB}"/>
              </a:ext>
            </a:extLst>
          </p:cNvPr>
          <p:cNvSpPr>
            <a:spLocks xmlns:a="http://schemas.openxmlformats.org/drawingml/2006/main" noGrp="1"/>
          </p:cNvSpPr>
          <p:nvPr/>
        </p:nvSpPr>
        <p:spPr>
          <a:xfrm xmlns:a="http://schemas.openxmlformats.org/drawingml/2006/main">
            <a:off x="609600" y="647700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975" b="0">
                <a:solidFill>
                  <a:srgbClr val="56665B"/>
                </a:solidFill>
                <a:latin typeface="Arial"/>
                <a:ea typeface="Arial"/>
                <a:cs typeface="Arial"/>
              </a:rPr>
              <a:t>Built-in demo capture. No post or claim was submitted while preparing this deck.</a:t>
            </a:r>
          </a:p>
        </p:txBody>
      </p:sp>
      <p:sp>
        <p:nvSpPr>
          <p:cNvPr id="13" name="">
            <a:extLst xmlns:a="http://schemas.openxmlformats.org/drawingml/2006/main">
              <a:ext uri="{FF2B5EF4-FFF2-40B4-BE49-F238E27FC236}">
                <a16:creationId xmlns:a16="http://schemas.microsoft.com/office/drawing/2014/main" id="{657B5DC0-8D13-426E-883C-ECF730470483}"/>
              </a:ext>
            </a:extLst>
          </p:cNvPr>
          <p:cNvSpPr>
            <a:spLocks xmlns:a="http://schemas.openxmlformats.org/drawingml/2006/main" noGrp="1"/>
          </p:cNvSpPr>
          <p:nvPr/>
        </p:nvSpPr>
        <p:spPr>
          <a:xfrm xmlns:a="http://schemas.openxmlformats.org/drawingml/2006/main">
            <a:off x="110871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lvl1pPr algn="r">
              <a:defRPr/>
            </a:lvl1pPr>
            <a:lvl2pPr algn="r">
              <a:defRPr/>
            </a:lvl2pPr>
            <a:lvl3pPr algn="r">
              <a:defRPr/>
            </a:lvl3pPr>
            <a:lvl4pPr algn="r">
              <a:defRPr/>
            </a:lvl4pPr>
            <a:lvl5pPr algn="r">
              <a:defRPr/>
            </a:lvl5pPr>
            <a:lvl6pPr algn="r">
              <a:defRPr/>
            </a:lvl6pPr>
            <a:lvl7pPr algn="r">
              <a:defRPr/>
            </a:lvl7pPr>
            <a:lvl8pPr algn="r">
              <a:defRPr/>
            </a:lvl8pPr>
            <a:lvl9pPr algn="r">
              <a:defRPr/>
            </a:lvl9pPr>
          </a:lstStyle>
          <a:p xmlns:a="http://schemas.openxmlformats.org/drawingml/2006/main">
            <a:pPr algn="r"/>
            <a:r>
              <a:rPr sz="1125" b="1">
                <a:solidFill>
                  <a:srgbClr val="26783B"/>
                </a:solidFill>
                <a:latin typeface="Arial"/>
                <a:ea typeface="Arial"/>
                <a:cs typeface="Arial"/>
              </a:rPr>
              <a:t>01</a:t>
            </a:r>
          </a:p>
        </p:txBody>
      </p:sp>
    </p:spTree>
    <p:extLst>
      <p:ext uri="{BB962C8B-B14F-4D97-AF65-F5344CB8AC3E}">
        <p14:creationId xmlns:p14="http://schemas.microsoft.com/office/powerpoint/2010/main" val="1217945631"/>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81781E8-3D33-4D3A-9DE9-D9A95592312B}"/>
              </a:ext>
            </a:extLst>
          </p:cNvPr>
          <p:cNvSpPr>
            <a:spLocks xmlns:a="http://schemas.openxmlformats.org/drawingml/2006/main" noGrp="1"/>
          </p:cNvSpPr>
          <p:nvPr/>
        </p:nvSpPr>
        <p:spPr>
          <a:xfrm xmlns:a="http://schemas.openxmlformats.org/drawingml/2006/main">
            <a:off x="609600" y="2095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200" b="1">
                <a:solidFill>
                  <a:srgbClr val="26783B"/>
                </a:solidFill>
                <a:latin typeface="Arial"/>
                <a:ea typeface="Arial"/>
                <a:cs typeface="Arial"/>
              </a:rPr>
              <a:t>CHECKLIST ITEM 02 OF 07</a:t>
            </a:r>
          </a:p>
        </p:txBody>
      </p:sp>
      <p:sp>
        <p:nvSpPr>
          <p:cNvPr id="2" name="">
            <a:extLst xmlns:a="http://schemas.openxmlformats.org/drawingml/2006/main">
              <a:ext uri="{FF2B5EF4-FFF2-40B4-BE49-F238E27FC236}">
                <a16:creationId xmlns:a16="http://schemas.microsoft.com/office/drawing/2014/main" id="{F273C326-050A-49F3-A6A6-51F1CBCD6A86}"/>
              </a:ext>
            </a:extLst>
          </p:cNvPr>
          <p:cNvSpPr>
            <a:spLocks xmlns:a="http://schemas.openxmlformats.org/drawingml/2006/main" noGrp="1"/>
          </p:cNvSpPr>
          <p:nvPr/>
        </p:nvSpPr>
        <p:spPr>
          <a:xfrm xmlns:a="http://schemas.openxmlformats.org/drawingml/2006/main">
            <a:off x="609600" y="4953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3450" b="1">
                <a:solidFill>
                  <a:srgbClr val="182019"/>
                </a:solidFill>
                <a:latin typeface="Arial"/>
                <a:ea typeface="Arial"/>
                <a:cs typeface="Arial"/>
              </a:rPr>
              <a:t>Control structures</a:t>
            </a:r>
          </a:p>
        </p:txBody>
      </p:sp>
      <p:sp>
        <p:nvSpPr>
          <p:cNvPr id="3" name="">
            <a:extLst xmlns:a="http://schemas.openxmlformats.org/drawingml/2006/main">
              <a:ext uri="{FF2B5EF4-FFF2-40B4-BE49-F238E27FC236}">
                <a16:creationId xmlns:a16="http://schemas.microsoft.com/office/drawing/2014/main" id="{70F8C755-2341-4BDB-A086-8CBB56B866D9}"/>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800" b="0">
                <a:solidFill>
                  <a:srgbClr val="56665B"/>
                </a:solidFill>
                <a:latin typeface="Arial"/>
                <a:ea typeface="Arial"/>
                <a:cs typeface="Arial"/>
              </a:rPr>
              <a:t>Control structures decide which items continue to the screen.</a:t>
            </a:r>
          </a:p>
        </p:txBody>
      </p:sp>
      <p:sp>
        <p:nvSpPr>
          <p:cNvPr id="4" name="">
            <a:extLst xmlns:a="http://schemas.openxmlformats.org/drawingml/2006/main">
              <a:ext uri="{FF2B5EF4-FFF2-40B4-BE49-F238E27FC236}">
                <a16:creationId xmlns:a16="http://schemas.microsoft.com/office/drawing/2014/main" id="{4E7C72ED-E1ED-459D-95AF-4D52F1202216}"/>
              </a:ext>
            </a:extLst>
          </p:cNvPr>
          <p:cNvSpPr>
            <a:spLocks xmlns:a="http://schemas.openxmlformats.org/drawingml/2006/main" noGrp="1"/>
          </p:cNvSpPr>
          <p:nvPr/>
        </p:nvSpPr>
        <p:spPr>
          <a:xfrm xmlns:a="http://schemas.openxmlformats.org/drawingml/2006/main">
            <a:off x="609600" y="1762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IN THE APP</a:t>
            </a:r>
          </a:p>
        </p:txBody>
      </p:sp>
      <p:sp>
        <p:nvSpPr>
          <p:cNvPr id="5" name="">
            <a:extLst xmlns:a="http://schemas.openxmlformats.org/drawingml/2006/main">
              <a:ext uri="{FF2B5EF4-FFF2-40B4-BE49-F238E27FC236}">
                <a16:creationId xmlns:a16="http://schemas.microsoft.com/office/drawing/2014/main" id="{D0F837DA-8A5D-4035-A40F-F10CC34234FE}"/>
              </a:ext>
            </a:extLst>
          </p:cNvPr>
          <p:cNvSpPr>
            <a:spLocks xmlns:a="http://schemas.openxmlformats.org/drawingml/2006/main" noGrp="1"/>
          </p:cNvSpPr>
          <p:nvPr/>
        </p:nvSpPr>
        <p:spPr>
          <a:xfrm xmlns:a="http://schemas.openxmlformats.org/drawingml/2006/main">
            <a:off x="4914900" y="17621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SOURCE CODE</a:t>
            </a:r>
          </a:p>
        </p:txBody>
      </p:sp>
      <p:pic>
        <p:nvPicPr>
          <p:cNvPr id="6" name="">
            <a:extLst xmlns:a="http://schemas.openxmlformats.org/drawingml/2006/main">
              <a:ext uri="{FF2B5EF4-FFF2-40B4-BE49-F238E27FC236}">
                <a16:creationId xmlns:a16="http://schemas.microsoft.com/office/drawing/2014/main" id="{2D14CD5F-80E4-4C1A-ABAB-61BBF231E75A}"/>
              </a:ext>
            </a:extLst>
          </p:cNvPr>
          <p:cNvPicPr>
            <a:picLocks xmlns:a="http://schemas.openxmlformats.org/drawingml/2006/main" noChangeAspect="1"/>
          </p:cNvPicPr>
          <p:nvPr/>
        </p:nvPicPr>
        <p:blipFill>
          <a:blip xmlns:r="http://schemas.openxmlformats.org/officeDocument/2006/relationships" xmlns:a="http://schemas.openxmlformats.org/drawingml/2006/main" r:embed="R5bc6ed2cda68437b"/>
          <a:stretch xmlns:a="http://schemas.openxmlformats.org/drawingml/2006/main"/>
        </p:blipFill>
        <p:spPr>
          <a:xfrm xmlns:a="http://schemas.openxmlformats.org/drawingml/2006/main">
            <a:off x="972015" y="2038350"/>
            <a:ext cx="3275671" cy="2857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587B4A5-DC57-40C5-900D-BA933021C67B}"/>
              </a:ext>
            </a:extLst>
          </p:cNvPr>
          <p:cNvPicPr>
            <a:picLocks xmlns:a="http://schemas.openxmlformats.org/drawingml/2006/main" noChangeAspect="1"/>
          </p:cNvPicPr>
          <p:nvPr/>
        </p:nvPicPr>
        <p:blipFill>
          <a:blip xmlns:r="http://schemas.openxmlformats.org/officeDocument/2006/relationships" xmlns:a="http://schemas.openxmlformats.org/drawingml/2006/main" r:embed="Rb8f36e62876b4ec1"/>
          <a:stretch xmlns:a="http://schemas.openxmlformats.org/drawingml/2006/main"/>
        </p:blipFill>
        <p:spPr>
          <a:xfrm xmlns:a="http://schemas.openxmlformats.org/drawingml/2006/main">
            <a:off x="4914900" y="2240958"/>
            <a:ext cx="6667500" cy="245228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0ADAD73-693B-46CB-87C5-943BB58C4988}"/>
              </a:ext>
            </a:extLst>
          </p:cNvPr>
          <p:cNvSpPr>
            <a:spLocks xmlns:a="http://schemas.openxmlformats.org/drawingml/2006/main" noGrp="1"/>
          </p:cNvSpPr>
          <p:nvPr/>
        </p:nvSpPr>
        <p:spPr>
          <a:xfrm xmlns:a="http://schemas.openxmlformats.org/drawingml/2006/main">
            <a:off x="609600" y="4972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Screen: /app/home-feed</a:t>
            </a:r>
          </a:p>
        </p:txBody>
      </p:sp>
      <p:sp>
        <p:nvSpPr>
          <p:cNvPr id="9" name="">
            <a:extLst xmlns:a="http://schemas.openxmlformats.org/drawingml/2006/main">
              <a:ext uri="{FF2B5EF4-FFF2-40B4-BE49-F238E27FC236}">
                <a16:creationId xmlns:a16="http://schemas.microsoft.com/office/drawing/2014/main" id="{AFE79DBB-8CD2-4178-8CFC-7E8DC5F7D5C1}"/>
              </a:ext>
            </a:extLst>
          </p:cNvPr>
          <p:cNvSpPr>
            <a:spLocks xmlns:a="http://schemas.openxmlformats.org/drawingml/2006/main" noGrp="1"/>
          </p:cNvSpPr>
          <p:nvPr/>
        </p:nvSpPr>
        <p:spPr>
          <a:xfrm xmlns:a="http://schemas.openxmlformats.org/drawingml/2006/main">
            <a:off x="4914900" y="4972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Source: HomeFeed.jsx, lines 67 to 74</a:t>
            </a:r>
          </a:p>
        </p:txBody>
      </p:sp>
      <p:sp>
        <p:nvSpPr>
          <p:cNvPr id="10" name="">
            <a:extLst xmlns:a="http://schemas.openxmlformats.org/drawingml/2006/main">
              <a:ext uri="{FF2B5EF4-FFF2-40B4-BE49-F238E27FC236}">
                <a16:creationId xmlns:a16="http://schemas.microsoft.com/office/drawing/2014/main" id="{C8FFCD88-4D4D-4CD7-B757-1221FC0FA778}"/>
              </a:ext>
            </a:extLst>
          </p:cNvPr>
          <p:cNvSpPr>
            <a:spLocks xmlns:a="http://schemas.openxmlformats.org/drawingml/2006/main" noGrp="1"/>
          </p:cNvSpPr>
          <p:nvPr/>
        </p:nvSpPr>
        <p:spPr>
          <a:xfrm xmlns:a="http://schemas.openxmlformats.org/drawingml/2006/main">
            <a:off x="609600" y="53911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050" b="1">
                <a:solidFill>
                  <a:srgbClr val="26783B"/>
                </a:solidFill>
                <a:latin typeface="Arial"/>
                <a:ea typeface="Arial"/>
                <a:cs typeface="Arial"/>
              </a:rPr>
              <a:t>PRESENTER CUE</a:t>
            </a:r>
          </a:p>
        </p:txBody>
      </p:sp>
      <p:sp>
        <p:nvSpPr>
          <p:cNvPr id="11" name="">
            <a:extLst xmlns:a="http://schemas.openxmlformats.org/drawingml/2006/main">
              <a:ext uri="{FF2B5EF4-FFF2-40B4-BE49-F238E27FC236}">
                <a16:creationId xmlns:a16="http://schemas.microsoft.com/office/drawing/2014/main" id="{C797C35C-9B80-4EC3-BD8D-31428260343D}"/>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650" b="0">
                <a:solidFill>
                  <a:srgbClr val="182019"/>
                </a:solidFill>
                <a:latin typeface="Arial"/>
                <a:ea typeface="Arial"/>
                <a:cs typeface="Arial"/>
              </a:rPr>
              <a:t>A post stays visible only when it passes both the category test and the search test.</a:t>
            </a:r>
          </a:p>
        </p:txBody>
      </p:sp>
      <p:sp>
        <p:nvSpPr>
          <p:cNvPr id="12" name="">
            <a:extLst xmlns:a="http://schemas.openxmlformats.org/drawingml/2006/main">
              <a:ext uri="{FF2B5EF4-FFF2-40B4-BE49-F238E27FC236}">
                <a16:creationId xmlns:a16="http://schemas.microsoft.com/office/drawing/2014/main" id="{EE7D9CB3-2E86-4542-9986-23F1793A4F39}"/>
              </a:ext>
            </a:extLst>
          </p:cNvPr>
          <p:cNvSpPr>
            <a:spLocks xmlns:a="http://schemas.openxmlformats.org/drawingml/2006/main" noGrp="1"/>
          </p:cNvSpPr>
          <p:nvPr/>
        </p:nvSpPr>
        <p:spPr>
          <a:xfrm xmlns:a="http://schemas.openxmlformats.org/drawingml/2006/main">
            <a:off x="609600" y="647700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975" b="0">
                <a:solidFill>
                  <a:srgbClr val="56665B"/>
                </a:solidFill>
                <a:latin typeface="Arial"/>
                <a:ea typeface="Arial"/>
                <a:cs typeface="Arial"/>
              </a:rPr>
              <a:t>Built-in demo capture. No post or claim was submitted while preparing this deck.</a:t>
            </a:r>
          </a:p>
        </p:txBody>
      </p:sp>
      <p:sp>
        <p:nvSpPr>
          <p:cNvPr id="13" name="">
            <a:extLst xmlns:a="http://schemas.openxmlformats.org/drawingml/2006/main">
              <a:ext uri="{FF2B5EF4-FFF2-40B4-BE49-F238E27FC236}">
                <a16:creationId xmlns:a16="http://schemas.microsoft.com/office/drawing/2014/main" id="{0FC153DF-354B-4A8A-8E66-5E1E6A5B0B9D}"/>
              </a:ext>
            </a:extLst>
          </p:cNvPr>
          <p:cNvSpPr>
            <a:spLocks xmlns:a="http://schemas.openxmlformats.org/drawingml/2006/main" noGrp="1"/>
          </p:cNvSpPr>
          <p:nvPr/>
        </p:nvSpPr>
        <p:spPr>
          <a:xfrm xmlns:a="http://schemas.openxmlformats.org/drawingml/2006/main">
            <a:off x="110871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lvl1pPr algn="r">
              <a:defRPr/>
            </a:lvl1pPr>
            <a:lvl2pPr algn="r">
              <a:defRPr/>
            </a:lvl2pPr>
            <a:lvl3pPr algn="r">
              <a:defRPr/>
            </a:lvl3pPr>
            <a:lvl4pPr algn="r">
              <a:defRPr/>
            </a:lvl4pPr>
            <a:lvl5pPr algn="r">
              <a:defRPr/>
            </a:lvl5pPr>
            <a:lvl6pPr algn="r">
              <a:defRPr/>
            </a:lvl6pPr>
            <a:lvl7pPr algn="r">
              <a:defRPr/>
            </a:lvl7pPr>
            <a:lvl8pPr algn="r">
              <a:defRPr/>
            </a:lvl8pPr>
            <a:lvl9pPr algn="r">
              <a:defRPr/>
            </a:lvl9pPr>
          </a:lstStyle>
          <a:p xmlns:a="http://schemas.openxmlformats.org/drawingml/2006/main">
            <a:pPr algn="r"/>
            <a:r>
              <a:rPr sz="1125" b="1">
                <a:solidFill>
                  <a:srgbClr val="26783B"/>
                </a:solidFill>
                <a:latin typeface="Arial"/>
                <a:ea typeface="Arial"/>
                <a:cs typeface="Arial"/>
              </a:rPr>
              <a:t>02</a:t>
            </a:r>
          </a:p>
        </p:txBody>
      </p:sp>
    </p:spTree>
    <p:extLst>
      <p:ext uri="{BB962C8B-B14F-4D97-AF65-F5344CB8AC3E}">
        <p14:creationId xmlns:p14="http://schemas.microsoft.com/office/powerpoint/2010/main" val="412142789"/>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616D42E-C03C-4B88-B46B-0814B2435A37}"/>
              </a:ext>
            </a:extLst>
          </p:cNvPr>
          <p:cNvSpPr>
            <a:spLocks xmlns:a="http://schemas.openxmlformats.org/drawingml/2006/main" noGrp="1"/>
          </p:cNvSpPr>
          <p:nvPr/>
        </p:nvSpPr>
        <p:spPr>
          <a:xfrm xmlns:a="http://schemas.openxmlformats.org/drawingml/2006/main">
            <a:off x="609600" y="2095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200" b="1">
                <a:solidFill>
                  <a:srgbClr val="26783B"/>
                </a:solidFill>
                <a:latin typeface="Arial"/>
                <a:ea typeface="Arial"/>
                <a:cs typeface="Arial"/>
              </a:rPr>
              <a:t>CHECKLIST ITEM 03 OF 07</a:t>
            </a:r>
          </a:p>
        </p:txBody>
      </p:sp>
      <p:sp>
        <p:nvSpPr>
          <p:cNvPr id="2" name="">
            <a:extLst xmlns:a="http://schemas.openxmlformats.org/drawingml/2006/main">
              <a:ext uri="{FF2B5EF4-FFF2-40B4-BE49-F238E27FC236}">
                <a16:creationId xmlns:a16="http://schemas.microsoft.com/office/drawing/2014/main" id="{7C1BF33F-EF8E-40BE-B901-E845DED3547E}"/>
              </a:ext>
            </a:extLst>
          </p:cNvPr>
          <p:cNvSpPr>
            <a:spLocks xmlns:a="http://schemas.openxmlformats.org/drawingml/2006/main" noGrp="1"/>
          </p:cNvSpPr>
          <p:nvPr/>
        </p:nvSpPr>
        <p:spPr>
          <a:xfrm xmlns:a="http://schemas.openxmlformats.org/drawingml/2006/main">
            <a:off x="609600" y="4953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3450" b="1">
                <a:solidFill>
                  <a:srgbClr val="182019"/>
                </a:solidFill>
                <a:latin typeface="Arial"/>
                <a:ea typeface="Arial"/>
                <a:cs typeface="Arial"/>
              </a:rPr>
              <a:t>Event handlers</a:t>
            </a:r>
          </a:p>
        </p:txBody>
      </p:sp>
      <p:sp>
        <p:nvSpPr>
          <p:cNvPr id="3" name="">
            <a:extLst xmlns:a="http://schemas.openxmlformats.org/drawingml/2006/main">
              <a:ext uri="{FF2B5EF4-FFF2-40B4-BE49-F238E27FC236}">
                <a16:creationId xmlns:a16="http://schemas.microsoft.com/office/drawing/2014/main" id="{C589B55D-6319-47A0-9174-2462E578F986}"/>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800" b="0">
                <a:solidFill>
                  <a:srgbClr val="56665B"/>
                </a:solidFill>
                <a:latin typeface="Arial"/>
                <a:ea typeface="Arial"/>
                <a:cs typeface="Arial"/>
              </a:rPr>
              <a:t>An event handler connects a user action to program logic.</a:t>
            </a:r>
          </a:p>
        </p:txBody>
      </p:sp>
      <p:sp>
        <p:nvSpPr>
          <p:cNvPr id="4" name="">
            <a:extLst xmlns:a="http://schemas.openxmlformats.org/drawingml/2006/main">
              <a:ext uri="{FF2B5EF4-FFF2-40B4-BE49-F238E27FC236}">
                <a16:creationId xmlns:a16="http://schemas.microsoft.com/office/drawing/2014/main" id="{9D5BAA61-C6D5-4A25-9DBB-5876D1128DC3}"/>
              </a:ext>
            </a:extLst>
          </p:cNvPr>
          <p:cNvSpPr>
            <a:spLocks xmlns:a="http://schemas.openxmlformats.org/drawingml/2006/main" noGrp="1"/>
          </p:cNvSpPr>
          <p:nvPr/>
        </p:nvSpPr>
        <p:spPr>
          <a:xfrm xmlns:a="http://schemas.openxmlformats.org/drawingml/2006/main">
            <a:off x="609600" y="1762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IN THE APP</a:t>
            </a:r>
          </a:p>
        </p:txBody>
      </p:sp>
      <p:sp>
        <p:nvSpPr>
          <p:cNvPr id="5" name="">
            <a:extLst xmlns:a="http://schemas.openxmlformats.org/drawingml/2006/main">
              <a:ext uri="{FF2B5EF4-FFF2-40B4-BE49-F238E27FC236}">
                <a16:creationId xmlns:a16="http://schemas.microsoft.com/office/drawing/2014/main" id="{0118D5B6-4BDC-4267-8DAA-03054A6A3D4C}"/>
              </a:ext>
            </a:extLst>
          </p:cNvPr>
          <p:cNvSpPr>
            <a:spLocks xmlns:a="http://schemas.openxmlformats.org/drawingml/2006/main" noGrp="1"/>
          </p:cNvSpPr>
          <p:nvPr/>
        </p:nvSpPr>
        <p:spPr>
          <a:xfrm xmlns:a="http://schemas.openxmlformats.org/drawingml/2006/main">
            <a:off x="4914900" y="17621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SOURCE CODE</a:t>
            </a:r>
          </a:p>
        </p:txBody>
      </p:sp>
      <p:pic>
        <p:nvPicPr>
          <p:cNvPr id="6" name="">
            <a:extLst xmlns:a="http://schemas.openxmlformats.org/drawingml/2006/main">
              <a:ext uri="{FF2B5EF4-FFF2-40B4-BE49-F238E27FC236}">
                <a16:creationId xmlns:a16="http://schemas.microsoft.com/office/drawing/2014/main" id="{658F812C-30F6-45AE-8B7D-AB9C85F4B941}"/>
              </a:ext>
            </a:extLst>
          </p:cNvPr>
          <p:cNvPicPr>
            <a:picLocks xmlns:a="http://schemas.openxmlformats.org/drawingml/2006/main" noChangeAspect="1"/>
          </p:cNvPicPr>
          <p:nvPr/>
        </p:nvPicPr>
        <p:blipFill>
          <a:blip xmlns:r="http://schemas.openxmlformats.org/officeDocument/2006/relationships" xmlns:a="http://schemas.openxmlformats.org/drawingml/2006/main" r:embed="R6834b13d1675400a"/>
          <a:stretch xmlns:a="http://schemas.openxmlformats.org/drawingml/2006/main"/>
        </p:blipFill>
        <p:spPr>
          <a:xfrm xmlns:a="http://schemas.openxmlformats.org/drawingml/2006/main">
            <a:off x="609600" y="2053496"/>
            <a:ext cx="4000500" cy="282720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1EAA5C1-C940-449C-87A2-F23C867615B5}"/>
              </a:ext>
            </a:extLst>
          </p:cNvPr>
          <p:cNvPicPr>
            <a:picLocks xmlns:a="http://schemas.openxmlformats.org/drawingml/2006/main" noChangeAspect="1"/>
          </p:cNvPicPr>
          <p:nvPr/>
        </p:nvPicPr>
        <p:blipFill>
          <a:blip xmlns:r="http://schemas.openxmlformats.org/officeDocument/2006/relationships" xmlns:a="http://schemas.openxmlformats.org/drawingml/2006/main" r:embed="Rcb07d4161d644b8b"/>
          <a:stretch xmlns:a="http://schemas.openxmlformats.org/drawingml/2006/main"/>
        </p:blipFill>
        <p:spPr>
          <a:xfrm xmlns:a="http://schemas.openxmlformats.org/drawingml/2006/main">
            <a:off x="5216411" y="2038350"/>
            <a:ext cx="6064478" cy="2857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81FD1C5-ED85-4316-B82E-3E5C690EC259}"/>
              </a:ext>
            </a:extLst>
          </p:cNvPr>
          <p:cNvSpPr>
            <a:spLocks xmlns:a="http://schemas.openxmlformats.org/drawingml/2006/main" noGrp="1"/>
          </p:cNvSpPr>
          <p:nvPr/>
        </p:nvSpPr>
        <p:spPr>
          <a:xfrm xmlns:a="http://schemas.openxmlformats.org/drawingml/2006/main">
            <a:off x="609600" y="4972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Screen: /app/home-feed</a:t>
            </a:r>
          </a:p>
        </p:txBody>
      </p:sp>
      <p:sp>
        <p:nvSpPr>
          <p:cNvPr id="9" name="">
            <a:extLst xmlns:a="http://schemas.openxmlformats.org/drawingml/2006/main">
              <a:ext uri="{FF2B5EF4-FFF2-40B4-BE49-F238E27FC236}">
                <a16:creationId xmlns:a16="http://schemas.microsoft.com/office/drawing/2014/main" id="{E1A2AABB-628B-44FA-8E4B-83C504B0FDD4}"/>
              </a:ext>
            </a:extLst>
          </p:cNvPr>
          <p:cNvSpPr>
            <a:spLocks xmlns:a="http://schemas.openxmlformats.org/drawingml/2006/main" noGrp="1"/>
          </p:cNvSpPr>
          <p:nvPr/>
        </p:nvSpPr>
        <p:spPr>
          <a:xfrm xmlns:a="http://schemas.openxmlformats.org/drawingml/2006/main">
            <a:off x="4914900" y="4972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Source: FoodCard.jsx, lines 76 to 87</a:t>
            </a:r>
          </a:p>
        </p:txBody>
      </p:sp>
      <p:sp>
        <p:nvSpPr>
          <p:cNvPr id="10" name="">
            <a:extLst xmlns:a="http://schemas.openxmlformats.org/drawingml/2006/main">
              <a:ext uri="{FF2B5EF4-FFF2-40B4-BE49-F238E27FC236}">
                <a16:creationId xmlns:a16="http://schemas.microsoft.com/office/drawing/2014/main" id="{48F87562-614A-47C1-AAD4-4677025DA943}"/>
              </a:ext>
            </a:extLst>
          </p:cNvPr>
          <p:cNvSpPr>
            <a:spLocks xmlns:a="http://schemas.openxmlformats.org/drawingml/2006/main" noGrp="1"/>
          </p:cNvSpPr>
          <p:nvPr/>
        </p:nvSpPr>
        <p:spPr>
          <a:xfrm xmlns:a="http://schemas.openxmlformats.org/drawingml/2006/main">
            <a:off x="609600" y="53911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050" b="1">
                <a:solidFill>
                  <a:srgbClr val="26783B"/>
                </a:solidFill>
                <a:latin typeface="Arial"/>
                <a:ea typeface="Arial"/>
                <a:cs typeface="Arial"/>
              </a:rPr>
              <a:t>PRESENTER CUE</a:t>
            </a:r>
          </a:p>
        </p:txBody>
      </p:sp>
      <p:sp>
        <p:nvSpPr>
          <p:cNvPr id="11" name="">
            <a:extLst xmlns:a="http://schemas.openxmlformats.org/drawingml/2006/main">
              <a:ext uri="{FF2B5EF4-FFF2-40B4-BE49-F238E27FC236}">
                <a16:creationId xmlns:a16="http://schemas.microsoft.com/office/drawing/2014/main" id="{36FF1E61-82EC-4124-90FB-3014175732FE}"/>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650" b="0">
                <a:solidFill>
                  <a:srgbClr val="182019"/>
                </a:solidFill>
                <a:latin typeface="Arial"/>
                <a:ea typeface="Arial"/>
                <a:cs typeface="Arial"/>
              </a:rPr>
              <a:t>The claim control calls handleClaim, which checks the quantity before starting the claim request.</a:t>
            </a:r>
          </a:p>
        </p:txBody>
      </p:sp>
      <p:sp>
        <p:nvSpPr>
          <p:cNvPr id="12" name="">
            <a:extLst xmlns:a="http://schemas.openxmlformats.org/drawingml/2006/main">
              <a:ext uri="{FF2B5EF4-FFF2-40B4-BE49-F238E27FC236}">
                <a16:creationId xmlns:a16="http://schemas.microsoft.com/office/drawing/2014/main" id="{BAAAE8EE-AEAD-410F-9C75-49D47314DE52}"/>
              </a:ext>
            </a:extLst>
          </p:cNvPr>
          <p:cNvSpPr>
            <a:spLocks xmlns:a="http://schemas.openxmlformats.org/drawingml/2006/main" noGrp="1"/>
          </p:cNvSpPr>
          <p:nvPr/>
        </p:nvSpPr>
        <p:spPr>
          <a:xfrm xmlns:a="http://schemas.openxmlformats.org/drawingml/2006/main">
            <a:off x="609600" y="647700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975" b="0">
                <a:solidFill>
                  <a:srgbClr val="56665B"/>
                </a:solidFill>
                <a:latin typeface="Arial"/>
                <a:ea typeface="Arial"/>
                <a:cs typeface="Arial"/>
              </a:rPr>
              <a:t>Built-in demo capture. No post or claim was submitted while preparing this deck.</a:t>
            </a:r>
          </a:p>
        </p:txBody>
      </p:sp>
      <p:sp>
        <p:nvSpPr>
          <p:cNvPr id="13" name="">
            <a:extLst xmlns:a="http://schemas.openxmlformats.org/drawingml/2006/main">
              <a:ext uri="{FF2B5EF4-FFF2-40B4-BE49-F238E27FC236}">
                <a16:creationId xmlns:a16="http://schemas.microsoft.com/office/drawing/2014/main" id="{6FFDCD9A-0007-4AFA-8B49-3A28EE3EA744}"/>
              </a:ext>
            </a:extLst>
          </p:cNvPr>
          <p:cNvSpPr>
            <a:spLocks xmlns:a="http://schemas.openxmlformats.org/drawingml/2006/main" noGrp="1"/>
          </p:cNvSpPr>
          <p:nvPr/>
        </p:nvSpPr>
        <p:spPr>
          <a:xfrm xmlns:a="http://schemas.openxmlformats.org/drawingml/2006/main">
            <a:off x="110871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lvl1pPr algn="r">
              <a:defRPr/>
            </a:lvl1pPr>
            <a:lvl2pPr algn="r">
              <a:defRPr/>
            </a:lvl2pPr>
            <a:lvl3pPr algn="r">
              <a:defRPr/>
            </a:lvl3pPr>
            <a:lvl4pPr algn="r">
              <a:defRPr/>
            </a:lvl4pPr>
            <a:lvl5pPr algn="r">
              <a:defRPr/>
            </a:lvl5pPr>
            <a:lvl6pPr algn="r">
              <a:defRPr/>
            </a:lvl6pPr>
            <a:lvl7pPr algn="r">
              <a:defRPr/>
            </a:lvl7pPr>
            <a:lvl8pPr algn="r">
              <a:defRPr/>
            </a:lvl8pPr>
            <a:lvl9pPr algn="r">
              <a:defRPr/>
            </a:lvl9pPr>
          </a:lstStyle>
          <a:p xmlns:a="http://schemas.openxmlformats.org/drawingml/2006/main">
            <a:pPr algn="r"/>
            <a:r>
              <a:rPr sz="1125" b="1">
                <a:solidFill>
                  <a:srgbClr val="26783B"/>
                </a:solidFill>
                <a:latin typeface="Arial"/>
                <a:ea typeface="Arial"/>
                <a:cs typeface="Arial"/>
              </a:rPr>
              <a:t>03</a:t>
            </a:r>
          </a:p>
        </p:txBody>
      </p:sp>
    </p:spTree>
    <p:extLst>
      <p:ext uri="{BB962C8B-B14F-4D97-AF65-F5344CB8AC3E}">
        <p14:creationId xmlns:p14="http://schemas.microsoft.com/office/powerpoint/2010/main" val="425367442"/>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356F1AF-6FEA-4EDA-BAE2-430C49C0F746}"/>
              </a:ext>
            </a:extLst>
          </p:cNvPr>
          <p:cNvSpPr>
            <a:spLocks xmlns:a="http://schemas.openxmlformats.org/drawingml/2006/main" noGrp="1"/>
          </p:cNvSpPr>
          <p:nvPr/>
        </p:nvSpPr>
        <p:spPr>
          <a:xfrm xmlns:a="http://schemas.openxmlformats.org/drawingml/2006/main">
            <a:off x="609600" y="2095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200" b="1">
                <a:solidFill>
                  <a:srgbClr val="26783B"/>
                </a:solidFill>
                <a:latin typeface="Arial"/>
                <a:ea typeface="Arial"/>
                <a:cs typeface="Arial"/>
              </a:rPr>
              <a:t>CHECKLIST ITEM 04 OF 07</a:t>
            </a:r>
          </a:p>
        </p:txBody>
      </p:sp>
      <p:sp>
        <p:nvSpPr>
          <p:cNvPr id="2" name="">
            <a:extLst xmlns:a="http://schemas.openxmlformats.org/drawingml/2006/main">
              <a:ext uri="{FF2B5EF4-FFF2-40B4-BE49-F238E27FC236}">
                <a16:creationId xmlns:a16="http://schemas.microsoft.com/office/drawing/2014/main" id="{9E37CCEA-24B3-492B-83FF-C2DFA96E4F10}"/>
              </a:ext>
            </a:extLst>
          </p:cNvPr>
          <p:cNvSpPr>
            <a:spLocks xmlns:a="http://schemas.openxmlformats.org/drawingml/2006/main" noGrp="1"/>
          </p:cNvSpPr>
          <p:nvPr/>
        </p:nvSpPr>
        <p:spPr>
          <a:xfrm xmlns:a="http://schemas.openxmlformats.org/drawingml/2006/main">
            <a:off x="609600" y="4953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3450" b="1">
                <a:solidFill>
                  <a:srgbClr val="182019"/>
                </a:solidFill>
                <a:latin typeface="Arial"/>
                <a:ea typeface="Arial"/>
                <a:cs typeface="Arial"/>
              </a:rPr>
              <a:t>Data passed between pages</a:t>
            </a:r>
          </a:p>
        </p:txBody>
      </p:sp>
      <p:sp>
        <p:nvSpPr>
          <p:cNvPr id="3" name="">
            <a:extLst xmlns:a="http://schemas.openxmlformats.org/drawingml/2006/main">
              <a:ext uri="{FF2B5EF4-FFF2-40B4-BE49-F238E27FC236}">
                <a16:creationId xmlns:a16="http://schemas.microsoft.com/office/drawing/2014/main" id="{D98CBF5E-AB0D-4B39-A6CD-029C1C966543}"/>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800" b="0">
                <a:solidFill>
                  <a:srgbClr val="56665B"/>
                </a:solidFill>
                <a:latin typeface="Arial"/>
                <a:ea typeface="Arial"/>
                <a:cs typeface="Arial"/>
              </a:rPr>
              <a:t>Props let a parent component share data with a child page.</a:t>
            </a:r>
          </a:p>
        </p:txBody>
      </p:sp>
      <p:sp>
        <p:nvSpPr>
          <p:cNvPr id="4" name="">
            <a:extLst xmlns:a="http://schemas.openxmlformats.org/drawingml/2006/main">
              <a:ext uri="{FF2B5EF4-FFF2-40B4-BE49-F238E27FC236}">
                <a16:creationId xmlns:a16="http://schemas.microsoft.com/office/drawing/2014/main" id="{86FDAB71-AB33-4821-A5B5-A6740D73EF9F}"/>
              </a:ext>
            </a:extLst>
          </p:cNvPr>
          <p:cNvSpPr>
            <a:spLocks xmlns:a="http://schemas.openxmlformats.org/drawingml/2006/main" noGrp="1"/>
          </p:cNvSpPr>
          <p:nvPr/>
        </p:nvSpPr>
        <p:spPr>
          <a:xfrm xmlns:a="http://schemas.openxmlformats.org/drawingml/2006/main">
            <a:off x="609600" y="1762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IN THE APP</a:t>
            </a:r>
          </a:p>
        </p:txBody>
      </p:sp>
      <p:sp>
        <p:nvSpPr>
          <p:cNvPr id="5" name="">
            <a:extLst xmlns:a="http://schemas.openxmlformats.org/drawingml/2006/main">
              <a:ext uri="{FF2B5EF4-FFF2-40B4-BE49-F238E27FC236}">
                <a16:creationId xmlns:a16="http://schemas.microsoft.com/office/drawing/2014/main" id="{48AC2CEF-C90C-4D8F-85FE-AFFEFAE8DCE7}"/>
              </a:ext>
            </a:extLst>
          </p:cNvPr>
          <p:cNvSpPr>
            <a:spLocks xmlns:a="http://schemas.openxmlformats.org/drawingml/2006/main" noGrp="1"/>
          </p:cNvSpPr>
          <p:nvPr/>
        </p:nvSpPr>
        <p:spPr>
          <a:xfrm xmlns:a="http://schemas.openxmlformats.org/drawingml/2006/main">
            <a:off x="4914900" y="17621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SOURCE CODE</a:t>
            </a:r>
          </a:p>
        </p:txBody>
      </p:sp>
      <p:pic>
        <p:nvPicPr>
          <p:cNvPr id="6" name="">
            <a:extLst xmlns:a="http://schemas.openxmlformats.org/drawingml/2006/main">
              <a:ext uri="{FF2B5EF4-FFF2-40B4-BE49-F238E27FC236}">
                <a16:creationId xmlns:a16="http://schemas.microsoft.com/office/drawing/2014/main" id="{F6C08416-272C-401F-947F-1B7E834DDA5F}"/>
              </a:ext>
            </a:extLst>
          </p:cNvPr>
          <p:cNvPicPr>
            <a:picLocks xmlns:a="http://schemas.openxmlformats.org/drawingml/2006/main" noChangeAspect="1"/>
          </p:cNvPicPr>
          <p:nvPr/>
        </p:nvPicPr>
        <p:blipFill>
          <a:blip xmlns:r="http://schemas.openxmlformats.org/officeDocument/2006/relationships" xmlns:a="http://schemas.openxmlformats.org/drawingml/2006/main" r:embed="R010f308390284b52"/>
          <a:stretch xmlns:a="http://schemas.openxmlformats.org/drawingml/2006/main"/>
        </p:blipFill>
        <p:spPr>
          <a:xfrm xmlns:a="http://schemas.openxmlformats.org/drawingml/2006/main">
            <a:off x="609600" y="3030821"/>
            <a:ext cx="4000500" cy="87255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C74BBF8-6099-40F3-952F-69032A151661}"/>
              </a:ext>
            </a:extLst>
          </p:cNvPr>
          <p:cNvPicPr>
            <a:picLocks xmlns:a="http://schemas.openxmlformats.org/drawingml/2006/main" noChangeAspect="1"/>
          </p:cNvPicPr>
          <p:nvPr/>
        </p:nvPicPr>
        <p:blipFill>
          <a:blip xmlns:r="http://schemas.openxmlformats.org/officeDocument/2006/relationships" xmlns:a="http://schemas.openxmlformats.org/drawingml/2006/main" r:embed="R09f038aa4a024de1"/>
          <a:stretch xmlns:a="http://schemas.openxmlformats.org/drawingml/2006/main"/>
        </p:blipFill>
        <p:spPr>
          <a:xfrm xmlns:a="http://schemas.openxmlformats.org/drawingml/2006/main">
            <a:off x="4914900" y="2218356"/>
            <a:ext cx="6667500" cy="249748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E8A72C6-2DE8-4362-B1B2-E2A715540B95}"/>
              </a:ext>
            </a:extLst>
          </p:cNvPr>
          <p:cNvSpPr>
            <a:spLocks xmlns:a="http://schemas.openxmlformats.org/drawingml/2006/main" noGrp="1"/>
          </p:cNvSpPr>
          <p:nvPr/>
        </p:nvSpPr>
        <p:spPr>
          <a:xfrm xmlns:a="http://schemas.openxmlformats.org/drawingml/2006/main">
            <a:off x="609600" y="4972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Screen: /app/profile</a:t>
            </a:r>
          </a:p>
        </p:txBody>
      </p:sp>
      <p:sp>
        <p:nvSpPr>
          <p:cNvPr id="9" name="">
            <a:extLst xmlns:a="http://schemas.openxmlformats.org/drawingml/2006/main">
              <a:ext uri="{FF2B5EF4-FFF2-40B4-BE49-F238E27FC236}">
                <a16:creationId xmlns:a16="http://schemas.microsoft.com/office/drawing/2014/main" id="{A05585F1-0D24-4405-AE12-830AAEC18470}"/>
              </a:ext>
            </a:extLst>
          </p:cNvPr>
          <p:cNvSpPr>
            <a:spLocks xmlns:a="http://schemas.openxmlformats.org/drawingml/2006/main" noGrp="1"/>
          </p:cNvSpPr>
          <p:nvPr/>
        </p:nvSpPr>
        <p:spPr>
          <a:xfrm xmlns:a="http://schemas.openxmlformats.org/drawingml/2006/main">
            <a:off x="4914900" y="4972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Source: App.jsx, lines 79 to 87</a:t>
            </a:r>
          </a:p>
        </p:txBody>
      </p:sp>
      <p:sp>
        <p:nvSpPr>
          <p:cNvPr id="10" name="">
            <a:extLst xmlns:a="http://schemas.openxmlformats.org/drawingml/2006/main">
              <a:ext uri="{FF2B5EF4-FFF2-40B4-BE49-F238E27FC236}">
                <a16:creationId xmlns:a16="http://schemas.microsoft.com/office/drawing/2014/main" id="{7F052F75-5411-429B-9220-A91D1F152A3E}"/>
              </a:ext>
            </a:extLst>
          </p:cNvPr>
          <p:cNvSpPr>
            <a:spLocks xmlns:a="http://schemas.openxmlformats.org/drawingml/2006/main" noGrp="1"/>
          </p:cNvSpPr>
          <p:nvPr/>
        </p:nvSpPr>
        <p:spPr>
          <a:xfrm xmlns:a="http://schemas.openxmlformats.org/drawingml/2006/main">
            <a:off x="609600" y="53911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050" b="1">
                <a:solidFill>
                  <a:srgbClr val="26783B"/>
                </a:solidFill>
                <a:latin typeface="Arial"/>
                <a:ea typeface="Arial"/>
                <a:cs typeface="Arial"/>
              </a:rPr>
              <a:t>PRESENTER CUE</a:t>
            </a:r>
          </a:p>
        </p:txBody>
      </p:sp>
      <p:sp>
        <p:nvSpPr>
          <p:cNvPr id="11" name="">
            <a:extLst xmlns:a="http://schemas.openxmlformats.org/drawingml/2006/main">
              <a:ext uri="{FF2B5EF4-FFF2-40B4-BE49-F238E27FC236}">
                <a16:creationId xmlns:a16="http://schemas.microsoft.com/office/drawing/2014/main" id="{8D62D221-0A61-4A05-92BB-2208F73E5A14}"/>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650" b="0">
                <a:solidFill>
                  <a:srgbClr val="182019"/>
                </a:solidFill>
                <a:latin typeface="Arial"/>
                <a:ea typeface="Arial"/>
                <a:cs typeface="Arial"/>
              </a:rPr>
              <a:t>App passes userProfile into the screens, and the profile card reads its name, email, and role.</a:t>
            </a:r>
          </a:p>
        </p:txBody>
      </p:sp>
      <p:sp>
        <p:nvSpPr>
          <p:cNvPr id="12" name="">
            <a:extLst xmlns:a="http://schemas.openxmlformats.org/drawingml/2006/main">
              <a:ext uri="{FF2B5EF4-FFF2-40B4-BE49-F238E27FC236}">
                <a16:creationId xmlns:a16="http://schemas.microsoft.com/office/drawing/2014/main" id="{CD2B4BB1-B1D7-4AAB-921F-A40886A1EE78}"/>
              </a:ext>
            </a:extLst>
          </p:cNvPr>
          <p:cNvSpPr>
            <a:spLocks xmlns:a="http://schemas.openxmlformats.org/drawingml/2006/main" noGrp="1"/>
          </p:cNvSpPr>
          <p:nvPr/>
        </p:nvSpPr>
        <p:spPr>
          <a:xfrm xmlns:a="http://schemas.openxmlformats.org/drawingml/2006/main">
            <a:off x="609600" y="647700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975" b="0">
                <a:solidFill>
                  <a:srgbClr val="56665B"/>
                </a:solidFill>
                <a:latin typeface="Arial"/>
                <a:ea typeface="Arial"/>
                <a:cs typeface="Arial"/>
              </a:rPr>
              <a:t>Built-in demo capture. No post or claim was submitted while preparing this deck.</a:t>
            </a:r>
          </a:p>
        </p:txBody>
      </p:sp>
      <p:sp>
        <p:nvSpPr>
          <p:cNvPr id="13" name="">
            <a:extLst xmlns:a="http://schemas.openxmlformats.org/drawingml/2006/main">
              <a:ext uri="{FF2B5EF4-FFF2-40B4-BE49-F238E27FC236}">
                <a16:creationId xmlns:a16="http://schemas.microsoft.com/office/drawing/2014/main" id="{08BC16DA-F6E8-4F63-B918-8B36F7BA6922}"/>
              </a:ext>
            </a:extLst>
          </p:cNvPr>
          <p:cNvSpPr>
            <a:spLocks xmlns:a="http://schemas.openxmlformats.org/drawingml/2006/main" noGrp="1"/>
          </p:cNvSpPr>
          <p:nvPr/>
        </p:nvSpPr>
        <p:spPr>
          <a:xfrm xmlns:a="http://schemas.openxmlformats.org/drawingml/2006/main">
            <a:off x="110871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lvl1pPr algn="r">
              <a:defRPr/>
            </a:lvl1pPr>
            <a:lvl2pPr algn="r">
              <a:defRPr/>
            </a:lvl2pPr>
            <a:lvl3pPr algn="r">
              <a:defRPr/>
            </a:lvl3pPr>
            <a:lvl4pPr algn="r">
              <a:defRPr/>
            </a:lvl4pPr>
            <a:lvl5pPr algn="r">
              <a:defRPr/>
            </a:lvl5pPr>
            <a:lvl6pPr algn="r">
              <a:defRPr/>
            </a:lvl6pPr>
            <a:lvl7pPr algn="r">
              <a:defRPr/>
            </a:lvl7pPr>
            <a:lvl8pPr algn="r">
              <a:defRPr/>
            </a:lvl8pPr>
            <a:lvl9pPr algn="r">
              <a:defRPr/>
            </a:lvl9pPr>
          </a:lstStyle>
          <a:p xmlns:a="http://schemas.openxmlformats.org/drawingml/2006/main">
            <a:pPr algn="r"/>
            <a:r>
              <a:rPr sz="1125" b="1">
                <a:solidFill>
                  <a:srgbClr val="26783B"/>
                </a:solidFill>
                <a:latin typeface="Arial"/>
                <a:ea typeface="Arial"/>
                <a:cs typeface="Arial"/>
              </a:rPr>
              <a:t>04</a:t>
            </a:r>
          </a:p>
        </p:txBody>
      </p:sp>
    </p:spTree>
    <p:extLst>
      <p:ext uri="{BB962C8B-B14F-4D97-AF65-F5344CB8AC3E}">
        <p14:creationId xmlns:p14="http://schemas.microsoft.com/office/powerpoint/2010/main" val="825859681"/>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9AD88E6-2B91-4E2D-8AA6-FA3AAE5A853B}"/>
              </a:ext>
            </a:extLst>
          </p:cNvPr>
          <p:cNvSpPr>
            <a:spLocks xmlns:a="http://schemas.openxmlformats.org/drawingml/2006/main" noGrp="1"/>
          </p:cNvSpPr>
          <p:nvPr/>
        </p:nvSpPr>
        <p:spPr>
          <a:xfrm xmlns:a="http://schemas.openxmlformats.org/drawingml/2006/main">
            <a:off x="609600" y="2095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200" b="1">
                <a:solidFill>
                  <a:srgbClr val="26783B"/>
                </a:solidFill>
                <a:latin typeface="Arial"/>
                <a:ea typeface="Arial"/>
                <a:cs typeface="Arial"/>
              </a:rPr>
              <a:t>CHECKLIST ITEM 05 OF 07</a:t>
            </a:r>
          </a:p>
        </p:txBody>
      </p:sp>
      <p:sp>
        <p:nvSpPr>
          <p:cNvPr id="2" name="">
            <a:extLst xmlns:a="http://schemas.openxmlformats.org/drawingml/2006/main">
              <a:ext uri="{FF2B5EF4-FFF2-40B4-BE49-F238E27FC236}">
                <a16:creationId xmlns:a16="http://schemas.microsoft.com/office/drawing/2014/main" id="{701571DD-C0DC-4F9B-8678-2C9D2678CB80}"/>
              </a:ext>
            </a:extLst>
          </p:cNvPr>
          <p:cNvSpPr>
            <a:spLocks xmlns:a="http://schemas.openxmlformats.org/drawingml/2006/main" noGrp="1"/>
          </p:cNvSpPr>
          <p:nvPr/>
        </p:nvSpPr>
        <p:spPr>
          <a:xfrm xmlns:a="http://schemas.openxmlformats.org/drawingml/2006/main">
            <a:off x="609600" y="4953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3450" b="1">
                <a:solidFill>
                  <a:srgbClr val="182019"/>
                </a:solidFill>
                <a:latin typeface="Arial"/>
                <a:ea typeface="Arial"/>
                <a:cs typeface="Arial"/>
              </a:rPr>
              <a:t>Lists displayed</a:t>
            </a:r>
          </a:p>
        </p:txBody>
      </p:sp>
      <p:sp>
        <p:nvSpPr>
          <p:cNvPr id="3" name="">
            <a:extLst xmlns:a="http://schemas.openxmlformats.org/drawingml/2006/main">
              <a:ext uri="{FF2B5EF4-FFF2-40B4-BE49-F238E27FC236}">
                <a16:creationId xmlns:a16="http://schemas.microsoft.com/office/drawing/2014/main" id="{829EFA2B-65E5-41A4-90E1-38ADDE36C413}"/>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800" b="0">
                <a:solidFill>
                  <a:srgbClr val="56665B"/>
                </a:solidFill>
                <a:latin typeface="Arial"/>
                <a:ea typeface="Arial"/>
                <a:cs typeface="Arial"/>
              </a:rPr>
              <a:t>A list turns an array of posts into repeated interface elements.</a:t>
            </a:r>
          </a:p>
        </p:txBody>
      </p:sp>
      <p:sp>
        <p:nvSpPr>
          <p:cNvPr id="4" name="">
            <a:extLst xmlns:a="http://schemas.openxmlformats.org/drawingml/2006/main">
              <a:ext uri="{FF2B5EF4-FFF2-40B4-BE49-F238E27FC236}">
                <a16:creationId xmlns:a16="http://schemas.microsoft.com/office/drawing/2014/main" id="{09FA96B1-13A5-48D6-B542-8494EA6D2310}"/>
              </a:ext>
            </a:extLst>
          </p:cNvPr>
          <p:cNvSpPr>
            <a:spLocks xmlns:a="http://schemas.openxmlformats.org/drawingml/2006/main" noGrp="1"/>
          </p:cNvSpPr>
          <p:nvPr/>
        </p:nvSpPr>
        <p:spPr>
          <a:xfrm xmlns:a="http://schemas.openxmlformats.org/drawingml/2006/main">
            <a:off x="609600" y="1762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IN THE APP</a:t>
            </a:r>
          </a:p>
        </p:txBody>
      </p:sp>
      <p:sp>
        <p:nvSpPr>
          <p:cNvPr id="5" name="">
            <a:extLst xmlns:a="http://schemas.openxmlformats.org/drawingml/2006/main">
              <a:ext uri="{FF2B5EF4-FFF2-40B4-BE49-F238E27FC236}">
                <a16:creationId xmlns:a16="http://schemas.microsoft.com/office/drawing/2014/main" id="{44BC5126-72D4-4B3F-84CC-D69BCBDA8DA1}"/>
              </a:ext>
            </a:extLst>
          </p:cNvPr>
          <p:cNvSpPr>
            <a:spLocks xmlns:a="http://schemas.openxmlformats.org/drawingml/2006/main" noGrp="1"/>
          </p:cNvSpPr>
          <p:nvPr/>
        </p:nvSpPr>
        <p:spPr>
          <a:xfrm xmlns:a="http://schemas.openxmlformats.org/drawingml/2006/main">
            <a:off x="4914900" y="17621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SOURCE CODE</a:t>
            </a:r>
          </a:p>
        </p:txBody>
      </p:sp>
      <p:pic>
        <p:nvPicPr>
          <p:cNvPr id="6" name="">
            <a:extLst xmlns:a="http://schemas.openxmlformats.org/drawingml/2006/main">
              <a:ext uri="{FF2B5EF4-FFF2-40B4-BE49-F238E27FC236}">
                <a16:creationId xmlns:a16="http://schemas.microsoft.com/office/drawing/2014/main" id="{7AA466F1-37EA-4A76-B6CB-3DFB151D0BE6}"/>
              </a:ext>
            </a:extLst>
          </p:cNvPr>
          <p:cNvPicPr>
            <a:picLocks xmlns:a="http://schemas.openxmlformats.org/drawingml/2006/main" noChangeAspect="1"/>
          </p:cNvPicPr>
          <p:nvPr/>
        </p:nvPicPr>
        <p:blipFill>
          <a:blip xmlns:r="http://schemas.openxmlformats.org/officeDocument/2006/relationships" xmlns:a="http://schemas.openxmlformats.org/drawingml/2006/main" r:embed="R1130aab9b22a4f85"/>
          <a:stretch xmlns:a="http://schemas.openxmlformats.org/drawingml/2006/main"/>
        </p:blipFill>
        <p:spPr>
          <a:xfrm xmlns:a="http://schemas.openxmlformats.org/drawingml/2006/main">
            <a:off x="1117600" y="2038350"/>
            <a:ext cx="2984500" cy="2857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DD63B2B-7897-4275-AE1E-33990E3FDAAC}"/>
              </a:ext>
            </a:extLst>
          </p:cNvPr>
          <p:cNvPicPr>
            <a:picLocks xmlns:a="http://schemas.openxmlformats.org/drawingml/2006/main" noChangeAspect="1"/>
          </p:cNvPicPr>
          <p:nvPr/>
        </p:nvPicPr>
        <p:blipFill>
          <a:blip xmlns:r="http://schemas.openxmlformats.org/officeDocument/2006/relationships" xmlns:a="http://schemas.openxmlformats.org/drawingml/2006/main" r:embed="Rf92a8d774708442b"/>
          <a:stretch xmlns:a="http://schemas.openxmlformats.org/drawingml/2006/main"/>
        </p:blipFill>
        <p:spPr>
          <a:xfrm xmlns:a="http://schemas.openxmlformats.org/drawingml/2006/main">
            <a:off x="4914900" y="2218356"/>
            <a:ext cx="6667500" cy="249748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6933C0F-EB2C-4DDB-A8D4-158063AFB772}"/>
              </a:ext>
            </a:extLst>
          </p:cNvPr>
          <p:cNvSpPr>
            <a:spLocks xmlns:a="http://schemas.openxmlformats.org/drawingml/2006/main" noGrp="1"/>
          </p:cNvSpPr>
          <p:nvPr/>
        </p:nvSpPr>
        <p:spPr>
          <a:xfrm xmlns:a="http://schemas.openxmlformats.org/drawingml/2006/main">
            <a:off x="609600" y="4972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Screen: /app/home-feed</a:t>
            </a:r>
          </a:p>
        </p:txBody>
      </p:sp>
      <p:sp>
        <p:nvSpPr>
          <p:cNvPr id="9" name="">
            <a:extLst xmlns:a="http://schemas.openxmlformats.org/drawingml/2006/main">
              <a:ext uri="{FF2B5EF4-FFF2-40B4-BE49-F238E27FC236}">
                <a16:creationId xmlns:a16="http://schemas.microsoft.com/office/drawing/2014/main" id="{0EC9526B-B0F8-4143-8BE7-7C69756DA236}"/>
              </a:ext>
            </a:extLst>
          </p:cNvPr>
          <p:cNvSpPr>
            <a:spLocks xmlns:a="http://schemas.openxmlformats.org/drawingml/2006/main" noGrp="1"/>
          </p:cNvSpPr>
          <p:nvPr/>
        </p:nvSpPr>
        <p:spPr>
          <a:xfrm xmlns:a="http://schemas.openxmlformats.org/drawingml/2006/main">
            <a:off x="4914900" y="4972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Source: HomeFeed.jsx, lines 209 to 217</a:t>
            </a:r>
          </a:p>
        </p:txBody>
      </p:sp>
      <p:sp>
        <p:nvSpPr>
          <p:cNvPr id="10" name="">
            <a:extLst xmlns:a="http://schemas.openxmlformats.org/drawingml/2006/main">
              <a:ext uri="{FF2B5EF4-FFF2-40B4-BE49-F238E27FC236}">
                <a16:creationId xmlns:a16="http://schemas.microsoft.com/office/drawing/2014/main" id="{6B63A030-9B41-42D3-A9AE-14DCB5526E9E}"/>
              </a:ext>
            </a:extLst>
          </p:cNvPr>
          <p:cNvSpPr>
            <a:spLocks xmlns:a="http://schemas.openxmlformats.org/drawingml/2006/main" noGrp="1"/>
          </p:cNvSpPr>
          <p:nvPr/>
        </p:nvSpPr>
        <p:spPr>
          <a:xfrm xmlns:a="http://schemas.openxmlformats.org/drawingml/2006/main">
            <a:off x="609600" y="53911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050" b="1">
                <a:solidFill>
                  <a:srgbClr val="26783B"/>
                </a:solidFill>
                <a:latin typeface="Arial"/>
                <a:ea typeface="Arial"/>
                <a:cs typeface="Arial"/>
              </a:rPr>
              <a:t>PRESENTER CUE</a:t>
            </a:r>
          </a:p>
        </p:txBody>
      </p:sp>
      <p:sp>
        <p:nvSpPr>
          <p:cNvPr id="11" name="">
            <a:extLst xmlns:a="http://schemas.openxmlformats.org/drawingml/2006/main">
              <a:ext uri="{FF2B5EF4-FFF2-40B4-BE49-F238E27FC236}">
                <a16:creationId xmlns:a16="http://schemas.microsoft.com/office/drawing/2014/main" id="{E65D4B21-95BB-42B2-85D0-2A0ABCF24E88}"/>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650" b="0">
                <a:solidFill>
                  <a:srgbClr val="182019"/>
                </a:solidFill>
                <a:latin typeface="Arial"/>
                <a:ea typeface="Arial"/>
                <a:cs typeface="Arial"/>
              </a:rPr>
              <a:t>map renders one FoodCard per filtered post, while the post ID helps React track each item.</a:t>
            </a:r>
          </a:p>
        </p:txBody>
      </p:sp>
      <p:sp>
        <p:nvSpPr>
          <p:cNvPr id="12" name="">
            <a:extLst xmlns:a="http://schemas.openxmlformats.org/drawingml/2006/main">
              <a:ext uri="{FF2B5EF4-FFF2-40B4-BE49-F238E27FC236}">
                <a16:creationId xmlns:a16="http://schemas.microsoft.com/office/drawing/2014/main" id="{4D98F568-90AE-4D32-8E3F-721CD40F33A3}"/>
              </a:ext>
            </a:extLst>
          </p:cNvPr>
          <p:cNvSpPr>
            <a:spLocks xmlns:a="http://schemas.openxmlformats.org/drawingml/2006/main" noGrp="1"/>
          </p:cNvSpPr>
          <p:nvPr/>
        </p:nvSpPr>
        <p:spPr>
          <a:xfrm xmlns:a="http://schemas.openxmlformats.org/drawingml/2006/main">
            <a:off x="609600" y="647700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975" b="0">
                <a:solidFill>
                  <a:srgbClr val="56665B"/>
                </a:solidFill>
                <a:latin typeface="Arial"/>
                <a:ea typeface="Arial"/>
                <a:cs typeface="Arial"/>
              </a:rPr>
              <a:t>Built-in demo capture. No post or claim was submitted while preparing this deck.</a:t>
            </a:r>
          </a:p>
        </p:txBody>
      </p:sp>
      <p:sp>
        <p:nvSpPr>
          <p:cNvPr id="13" name="">
            <a:extLst xmlns:a="http://schemas.openxmlformats.org/drawingml/2006/main">
              <a:ext uri="{FF2B5EF4-FFF2-40B4-BE49-F238E27FC236}">
                <a16:creationId xmlns:a16="http://schemas.microsoft.com/office/drawing/2014/main" id="{0E74272C-7480-46F1-9622-6B3FAACD4867}"/>
              </a:ext>
            </a:extLst>
          </p:cNvPr>
          <p:cNvSpPr>
            <a:spLocks xmlns:a="http://schemas.openxmlformats.org/drawingml/2006/main" noGrp="1"/>
          </p:cNvSpPr>
          <p:nvPr/>
        </p:nvSpPr>
        <p:spPr>
          <a:xfrm xmlns:a="http://schemas.openxmlformats.org/drawingml/2006/main">
            <a:off x="110871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lvl1pPr algn="r">
              <a:defRPr/>
            </a:lvl1pPr>
            <a:lvl2pPr algn="r">
              <a:defRPr/>
            </a:lvl2pPr>
            <a:lvl3pPr algn="r">
              <a:defRPr/>
            </a:lvl3pPr>
            <a:lvl4pPr algn="r">
              <a:defRPr/>
            </a:lvl4pPr>
            <a:lvl5pPr algn="r">
              <a:defRPr/>
            </a:lvl5pPr>
            <a:lvl6pPr algn="r">
              <a:defRPr/>
            </a:lvl6pPr>
            <a:lvl7pPr algn="r">
              <a:defRPr/>
            </a:lvl7pPr>
            <a:lvl8pPr algn="r">
              <a:defRPr/>
            </a:lvl8pPr>
            <a:lvl9pPr algn="r">
              <a:defRPr/>
            </a:lvl9pPr>
          </a:lstStyle>
          <a:p xmlns:a="http://schemas.openxmlformats.org/drawingml/2006/main">
            <a:pPr algn="r"/>
            <a:r>
              <a:rPr sz="1125" b="1">
                <a:solidFill>
                  <a:srgbClr val="26783B"/>
                </a:solidFill>
                <a:latin typeface="Arial"/>
                <a:ea typeface="Arial"/>
                <a:cs typeface="Arial"/>
              </a:rPr>
              <a:t>05</a:t>
            </a:r>
          </a:p>
        </p:txBody>
      </p:sp>
    </p:spTree>
    <p:extLst>
      <p:ext uri="{BB962C8B-B14F-4D97-AF65-F5344CB8AC3E}">
        <p14:creationId xmlns:p14="http://schemas.microsoft.com/office/powerpoint/2010/main" val="688720642"/>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5BD981F-D515-4669-96D2-422A9FBA5B2A}"/>
              </a:ext>
            </a:extLst>
          </p:cNvPr>
          <p:cNvSpPr>
            <a:spLocks xmlns:a="http://schemas.openxmlformats.org/drawingml/2006/main" noGrp="1"/>
          </p:cNvSpPr>
          <p:nvPr/>
        </p:nvSpPr>
        <p:spPr>
          <a:xfrm xmlns:a="http://schemas.openxmlformats.org/drawingml/2006/main">
            <a:off x="609600" y="2095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200" b="1">
                <a:solidFill>
                  <a:srgbClr val="26783B"/>
                </a:solidFill>
                <a:latin typeface="Arial"/>
                <a:ea typeface="Arial"/>
                <a:cs typeface="Arial"/>
              </a:rPr>
              <a:t>CHECKLIST ITEM 06 OF 07</a:t>
            </a:r>
          </a:p>
        </p:txBody>
      </p:sp>
      <p:sp>
        <p:nvSpPr>
          <p:cNvPr id="2" name="">
            <a:extLst xmlns:a="http://schemas.openxmlformats.org/drawingml/2006/main">
              <a:ext uri="{FF2B5EF4-FFF2-40B4-BE49-F238E27FC236}">
                <a16:creationId xmlns:a16="http://schemas.microsoft.com/office/drawing/2014/main" id="{3E268FBE-98E7-40E8-8D6D-312B9C6A2131}"/>
              </a:ext>
            </a:extLst>
          </p:cNvPr>
          <p:cNvSpPr>
            <a:spLocks xmlns:a="http://schemas.openxmlformats.org/drawingml/2006/main" noGrp="1"/>
          </p:cNvSpPr>
          <p:nvPr/>
        </p:nvSpPr>
        <p:spPr>
          <a:xfrm xmlns:a="http://schemas.openxmlformats.org/drawingml/2006/main">
            <a:off x="609600" y="4953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3450" b="1">
                <a:solidFill>
                  <a:srgbClr val="182019"/>
                </a:solidFill>
                <a:latin typeface="Arial"/>
                <a:ea typeface="Arial"/>
                <a:cs typeface="Arial"/>
              </a:rPr>
              <a:t>Reusable services</a:t>
            </a:r>
          </a:p>
        </p:txBody>
      </p:sp>
      <p:sp>
        <p:nvSpPr>
          <p:cNvPr id="3" name="">
            <a:extLst xmlns:a="http://schemas.openxmlformats.org/drawingml/2006/main">
              <a:ext uri="{FF2B5EF4-FFF2-40B4-BE49-F238E27FC236}">
                <a16:creationId xmlns:a16="http://schemas.microsoft.com/office/drawing/2014/main" id="{5931E208-1FAF-4CCC-A018-BF29EC5113F4}"/>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800" b="0">
                <a:solidFill>
                  <a:srgbClr val="56665B"/>
                </a:solidFill>
                <a:latin typeface="Arial"/>
                <a:ea typeface="Arial"/>
                <a:cs typeface="Arial"/>
              </a:rPr>
              <a:t>A service separates data access from the screen that displays the result.</a:t>
            </a:r>
          </a:p>
        </p:txBody>
      </p:sp>
      <p:sp>
        <p:nvSpPr>
          <p:cNvPr id="4" name="">
            <a:extLst xmlns:a="http://schemas.openxmlformats.org/drawingml/2006/main">
              <a:ext uri="{FF2B5EF4-FFF2-40B4-BE49-F238E27FC236}">
                <a16:creationId xmlns:a16="http://schemas.microsoft.com/office/drawing/2014/main" id="{2B4CF022-E92B-4D28-AB21-1B51EA7466BF}"/>
              </a:ext>
            </a:extLst>
          </p:cNvPr>
          <p:cNvSpPr>
            <a:spLocks xmlns:a="http://schemas.openxmlformats.org/drawingml/2006/main" noGrp="1"/>
          </p:cNvSpPr>
          <p:nvPr/>
        </p:nvSpPr>
        <p:spPr>
          <a:xfrm xmlns:a="http://schemas.openxmlformats.org/drawingml/2006/main">
            <a:off x="609600" y="1762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IN THE APP</a:t>
            </a:r>
          </a:p>
        </p:txBody>
      </p:sp>
      <p:sp>
        <p:nvSpPr>
          <p:cNvPr id="5" name="">
            <a:extLst xmlns:a="http://schemas.openxmlformats.org/drawingml/2006/main">
              <a:ext uri="{FF2B5EF4-FFF2-40B4-BE49-F238E27FC236}">
                <a16:creationId xmlns:a16="http://schemas.microsoft.com/office/drawing/2014/main" id="{D2B7B186-5699-4544-AFAA-4350855DD302}"/>
              </a:ext>
            </a:extLst>
          </p:cNvPr>
          <p:cNvSpPr>
            <a:spLocks xmlns:a="http://schemas.openxmlformats.org/drawingml/2006/main" noGrp="1"/>
          </p:cNvSpPr>
          <p:nvPr/>
        </p:nvSpPr>
        <p:spPr>
          <a:xfrm xmlns:a="http://schemas.openxmlformats.org/drawingml/2006/main">
            <a:off x="4914900" y="17621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SOURCE CODE</a:t>
            </a:r>
          </a:p>
        </p:txBody>
      </p:sp>
      <p:pic>
        <p:nvPicPr>
          <p:cNvPr id="6" name="">
            <a:extLst xmlns:a="http://schemas.openxmlformats.org/drawingml/2006/main">
              <a:ext uri="{FF2B5EF4-FFF2-40B4-BE49-F238E27FC236}">
                <a16:creationId xmlns:a16="http://schemas.microsoft.com/office/drawing/2014/main" id="{23801839-CFA9-4643-B3C8-C016CB9F6C85}"/>
              </a:ext>
            </a:extLst>
          </p:cNvPr>
          <p:cNvPicPr>
            <a:picLocks xmlns:a="http://schemas.openxmlformats.org/drawingml/2006/main" noChangeAspect="1"/>
          </p:cNvPicPr>
          <p:nvPr/>
        </p:nvPicPr>
        <p:blipFill>
          <a:blip xmlns:r="http://schemas.openxmlformats.org/officeDocument/2006/relationships" xmlns:a="http://schemas.openxmlformats.org/drawingml/2006/main" r:embed="Reaf44489828d42e0"/>
          <a:stretch xmlns:a="http://schemas.openxmlformats.org/drawingml/2006/main"/>
        </p:blipFill>
        <p:spPr>
          <a:xfrm xmlns:a="http://schemas.openxmlformats.org/drawingml/2006/main">
            <a:off x="1454150" y="2038350"/>
            <a:ext cx="2311400" cy="2857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C1FE696-7130-4BFC-A7C7-9C0BF935E929}"/>
              </a:ext>
            </a:extLst>
          </p:cNvPr>
          <p:cNvPicPr>
            <a:picLocks xmlns:a="http://schemas.openxmlformats.org/drawingml/2006/main" noChangeAspect="1"/>
          </p:cNvPicPr>
          <p:nvPr/>
        </p:nvPicPr>
        <p:blipFill>
          <a:blip xmlns:r="http://schemas.openxmlformats.org/officeDocument/2006/relationships" xmlns:a="http://schemas.openxmlformats.org/drawingml/2006/main" r:embed="R076d73929be245a9"/>
          <a:stretch xmlns:a="http://schemas.openxmlformats.org/drawingml/2006/main"/>
        </p:blipFill>
        <p:spPr>
          <a:xfrm xmlns:a="http://schemas.openxmlformats.org/drawingml/2006/main">
            <a:off x="4914900" y="2218356"/>
            <a:ext cx="6667500" cy="249748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ADB5017-5FD3-4B7D-9BEB-E6D4EE7309EE}"/>
              </a:ext>
            </a:extLst>
          </p:cNvPr>
          <p:cNvSpPr>
            <a:spLocks xmlns:a="http://schemas.openxmlformats.org/drawingml/2006/main" noGrp="1"/>
          </p:cNvSpPr>
          <p:nvPr/>
        </p:nvSpPr>
        <p:spPr>
          <a:xfrm xmlns:a="http://schemas.openxmlformats.org/drawingml/2006/main">
            <a:off x="609600" y="4972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Screen: /app/home-feed</a:t>
            </a:r>
          </a:p>
        </p:txBody>
      </p:sp>
      <p:sp>
        <p:nvSpPr>
          <p:cNvPr id="9" name="">
            <a:extLst xmlns:a="http://schemas.openxmlformats.org/drawingml/2006/main">
              <a:ext uri="{FF2B5EF4-FFF2-40B4-BE49-F238E27FC236}">
                <a16:creationId xmlns:a16="http://schemas.microsoft.com/office/drawing/2014/main" id="{77F75EA8-4C56-4740-98BC-807AFCF01E81}"/>
              </a:ext>
            </a:extLst>
          </p:cNvPr>
          <p:cNvSpPr>
            <a:spLocks xmlns:a="http://schemas.openxmlformats.org/drawingml/2006/main" noGrp="1"/>
          </p:cNvSpPr>
          <p:nvPr/>
        </p:nvSpPr>
        <p:spPr>
          <a:xfrm xmlns:a="http://schemas.openxmlformats.org/drawingml/2006/main">
            <a:off x="4914900" y="4972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Source: services/food.js, lines 22 to 30</a:t>
            </a:r>
          </a:p>
        </p:txBody>
      </p:sp>
      <p:sp>
        <p:nvSpPr>
          <p:cNvPr id="10" name="">
            <a:extLst xmlns:a="http://schemas.openxmlformats.org/drawingml/2006/main">
              <a:ext uri="{FF2B5EF4-FFF2-40B4-BE49-F238E27FC236}">
                <a16:creationId xmlns:a16="http://schemas.microsoft.com/office/drawing/2014/main" id="{08654DD6-A443-4394-9B14-8A50A99123BC}"/>
              </a:ext>
            </a:extLst>
          </p:cNvPr>
          <p:cNvSpPr>
            <a:spLocks xmlns:a="http://schemas.openxmlformats.org/drawingml/2006/main" noGrp="1"/>
          </p:cNvSpPr>
          <p:nvPr/>
        </p:nvSpPr>
        <p:spPr>
          <a:xfrm xmlns:a="http://schemas.openxmlformats.org/drawingml/2006/main">
            <a:off x="609600" y="53911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050" b="1">
                <a:solidFill>
                  <a:srgbClr val="26783B"/>
                </a:solidFill>
                <a:latin typeface="Arial"/>
                <a:ea typeface="Arial"/>
                <a:cs typeface="Arial"/>
              </a:rPr>
              <a:t>PRESENTER CUE</a:t>
            </a:r>
          </a:p>
        </p:txBody>
      </p:sp>
      <p:sp>
        <p:nvSpPr>
          <p:cNvPr id="11" name="">
            <a:extLst xmlns:a="http://schemas.openxmlformats.org/drawingml/2006/main">
              <a:ext uri="{FF2B5EF4-FFF2-40B4-BE49-F238E27FC236}">
                <a16:creationId xmlns:a16="http://schemas.microsoft.com/office/drawing/2014/main" id="{45B15D75-4C46-4C0B-973F-38F36461C830}"/>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650" b="0">
                <a:solidFill>
                  <a:srgbClr val="182019"/>
                </a:solidFill>
                <a:latin typeface="Arial"/>
                <a:ea typeface="Arial"/>
                <a:cs typeface="Arial"/>
              </a:rPr>
              <a:t>HomeFeed calls getFoodPosts; the service handles retrieving active listings and the demo fallback.</a:t>
            </a:r>
          </a:p>
        </p:txBody>
      </p:sp>
      <p:sp>
        <p:nvSpPr>
          <p:cNvPr id="12" name="">
            <a:extLst xmlns:a="http://schemas.openxmlformats.org/drawingml/2006/main">
              <a:ext uri="{FF2B5EF4-FFF2-40B4-BE49-F238E27FC236}">
                <a16:creationId xmlns:a16="http://schemas.microsoft.com/office/drawing/2014/main" id="{EB024275-C849-43A4-94FF-FE1EFB54A44E}"/>
              </a:ext>
            </a:extLst>
          </p:cNvPr>
          <p:cNvSpPr>
            <a:spLocks xmlns:a="http://schemas.openxmlformats.org/drawingml/2006/main" noGrp="1"/>
          </p:cNvSpPr>
          <p:nvPr/>
        </p:nvSpPr>
        <p:spPr>
          <a:xfrm xmlns:a="http://schemas.openxmlformats.org/drawingml/2006/main">
            <a:off x="609600" y="647700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975" b="0">
                <a:solidFill>
                  <a:srgbClr val="56665B"/>
                </a:solidFill>
                <a:latin typeface="Arial"/>
                <a:ea typeface="Arial"/>
                <a:cs typeface="Arial"/>
              </a:rPr>
              <a:t>Built-in demo capture. No post or claim was submitted while preparing this deck.</a:t>
            </a:r>
          </a:p>
        </p:txBody>
      </p:sp>
      <p:sp>
        <p:nvSpPr>
          <p:cNvPr id="13" name="">
            <a:extLst xmlns:a="http://schemas.openxmlformats.org/drawingml/2006/main">
              <a:ext uri="{FF2B5EF4-FFF2-40B4-BE49-F238E27FC236}">
                <a16:creationId xmlns:a16="http://schemas.microsoft.com/office/drawing/2014/main" id="{576F106B-735B-4193-89A8-27CDED1FF60C}"/>
              </a:ext>
            </a:extLst>
          </p:cNvPr>
          <p:cNvSpPr>
            <a:spLocks xmlns:a="http://schemas.openxmlformats.org/drawingml/2006/main" noGrp="1"/>
          </p:cNvSpPr>
          <p:nvPr/>
        </p:nvSpPr>
        <p:spPr>
          <a:xfrm xmlns:a="http://schemas.openxmlformats.org/drawingml/2006/main">
            <a:off x="110871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lvl1pPr algn="r">
              <a:defRPr/>
            </a:lvl1pPr>
            <a:lvl2pPr algn="r">
              <a:defRPr/>
            </a:lvl2pPr>
            <a:lvl3pPr algn="r">
              <a:defRPr/>
            </a:lvl3pPr>
            <a:lvl4pPr algn="r">
              <a:defRPr/>
            </a:lvl4pPr>
            <a:lvl5pPr algn="r">
              <a:defRPr/>
            </a:lvl5pPr>
            <a:lvl6pPr algn="r">
              <a:defRPr/>
            </a:lvl6pPr>
            <a:lvl7pPr algn="r">
              <a:defRPr/>
            </a:lvl7pPr>
            <a:lvl8pPr algn="r">
              <a:defRPr/>
            </a:lvl8pPr>
            <a:lvl9pPr algn="r">
              <a:defRPr/>
            </a:lvl9pPr>
          </a:lstStyle>
          <a:p xmlns:a="http://schemas.openxmlformats.org/drawingml/2006/main">
            <a:pPr algn="r"/>
            <a:r>
              <a:rPr sz="1125" b="1">
                <a:solidFill>
                  <a:srgbClr val="26783B"/>
                </a:solidFill>
                <a:latin typeface="Arial"/>
                <a:ea typeface="Arial"/>
                <a:cs typeface="Arial"/>
              </a:rPr>
              <a:t>06</a:t>
            </a:r>
          </a:p>
        </p:txBody>
      </p:sp>
    </p:spTree>
    <p:extLst>
      <p:ext uri="{BB962C8B-B14F-4D97-AF65-F5344CB8AC3E}">
        <p14:creationId xmlns:p14="http://schemas.microsoft.com/office/powerpoint/2010/main" val="2077194183"/>
      </p:ext>
    </p:extLst>
  </p:cSld>
</p:sld>
</file>

<file path=ppt/slides/slide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009CE9-3C75-44D0-81F3-220491C3E4DF}"/>
              </a:ext>
            </a:extLst>
          </p:cNvPr>
          <p:cNvSpPr>
            <a:spLocks xmlns:a="http://schemas.openxmlformats.org/drawingml/2006/main" noGrp="1"/>
          </p:cNvSpPr>
          <p:nvPr/>
        </p:nvSpPr>
        <p:spPr>
          <a:xfrm xmlns:a="http://schemas.openxmlformats.org/drawingml/2006/main">
            <a:off x="609600" y="2095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200" b="1">
                <a:solidFill>
                  <a:srgbClr val="26783B"/>
                </a:solidFill>
                <a:latin typeface="Arial"/>
                <a:ea typeface="Arial"/>
                <a:cs typeface="Arial"/>
              </a:rPr>
              <a:t>CHECKLIST ITEM 07 OF 07</a:t>
            </a:r>
          </a:p>
        </p:txBody>
      </p:sp>
      <p:sp>
        <p:nvSpPr>
          <p:cNvPr id="2" name="">
            <a:extLst xmlns:a="http://schemas.openxmlformats.org/drawingml/2006/main">
              <a:ext uri="{FF2B5EF4-FFF2-40B4-BE49-F238E27FC236}">
                <a16:creationId xmlns:a16="http://schemas.microsoft.com/office/drawing/2014/main" id="{12FDDF08-5050-4F01-9868-D46E1E13BA04}"/>
              </a:ext>
            </a:extLst>
          </p:cNvPr>
          <p:cNvSpPr>
            <a:spLocks xmlns:a="http://schemas.openxmlformats.org/drawingml/2006/main" noGrp="1"/>
          </p:cNvSpPr>
          <p:nvPr/>
        </p:nvSpPr>
        <p:spPr>
          <a:xfrm xmlns:a="http://schemas.openxmlformats.org/drawingml/2006/main">
            <a:off x="609600" y="4953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3450" b="1">
                <a:solidFill>
                  <a:srgbClr val="182019"/>
                </a:solidFill>
                <a:latin typeface="Arial"/>
                <a:ea typeface="Arial"/>
                <a:cs typeface="Arial"/>
              </a:rPr>
              <a:t>Clear names and comments</a:t>
            </a:r>
          </a:p>
        </p:txBody>
      </p:sp>
      <p:sp>
        <p:nvSpPr>
          <p:cNvPr id="3" name="">
            <a:extLst xmlns:a="http://schemas.openxmlformats.org/drawingml/2006/main">
              <a:ext uri="{FF2B5EF4-FFF2-40B4-BE49-F238E27FC236}">
                <a16:creationId xmlns:a16="http://schemas.microsoft.com/office/drawing/2014/main" id="{EA7721FA-78B5-4385-A2D7-1409476AECE7}"/>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800" b="0">
                <a:solidFill>
                  <a:srgbClr val="56665B"/>
                </a:solidFill>
                <a:latin typeface="Arial"/>
                <a:ea typeface="Arial"/>
                <a:cs typeface="Arial"/>
              </a:rPr>
              <a:t>Descriptive names and comments explain what a calculation is doing.</a:t>
            </a:r>
          </a:p>
        </p:txBody>
      </p:sp>
      <p:sp>
        <p:nvSpPr>
          <p:cNvPr id="4" name="">
            <a:extLst xmlns:a="http://schemas.openxmlformats.org/drawingml/2006/main">
              <a:ext uri="{FF2B5EF4-FFF2-40B4-BE49-F238E27FC236}">
                <a16:creationId xmlns:a16="http://schemas.microsoft.com/office/drawing/2014/main" id="{6CA47E9A-51C8-4932-BCDF-F07DC794F8DA}"/>
              </a:ext>
            </a:extLst>
          </p:cNvPr>
          <p:cNvSpPr>
            <a:spLocks xmlns:a="http://schemas.openxmlformats.org/drawingml/2006/main" noGrp="1"/>
          </p:cNvSpPr>
          <p:nvPr/>
        </p:nvSpPr>
        <p:spPr>
          <a:xfrm xmlns:a="http://schemas.openxmlformats.org/drawingml/2006/main">
            <a:off x="609600" y="1762125"/>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IN THE APP</a:t>
            </a:r>
          </a:p>
        </p:txBody>
      </p:sp>
      <p:sp>
        <p:nvSpPr>
          <p:cNvPr id="5" name="">
            <a:extLst xmlns:a="http://schemas.openxmlformats.org/drawingml/2006/main">
              <a:ext uri="{FF2B5EF4-FFF2-40B4-BE49-F238E27FC236}">
                <a16:creationId xmlns:a16="http://schemas.microsoft.com/office/drawing/2014/main" id="{C23AE67A-B3BF-4393-80C1-80D4916DB668}"/>
              </a:ext>
            </a:extLst>
          </p:cNvPr>
          <p:cNvSpPr>
            <a:spLocks xmlns:a="http://schemas.openxmlformats.org/drawingml/2006/main" noGrp="1"/>
          </p:cNvSpPr>
          <p:nvPr/>
        </p:nvSpPr>
        <p:spPr>
          <a:xfrm xmlns:a="http://schemas.openxmlformats.org/drawingml/2006/main">
            <a:off x="4914900" y="17621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1">
                <a:solidFill>
                  <a:srgbClr val="26783B"/>
                </a:solidFill>
                <a:latin typeface="Arial"/>
                <a:ea typeface="Arial"/>
                <a:cs typeface="Arial"/>
              </a:rPr>
              <a:t>SOURCE CODE</a:t>
            </a:r>
          </a:p>
        </p:txBody>
      </p:sp>
      <p:pic>
        <p:nvPicPr>
          <p:cNvPr id="6" name="">
            <a:extLst xmlns:a="http://schemas.openxmlformats.org/drawingml/2006/main">
              <a:ext uri="{FF2B5EF4-FFF2-40B4-BE49-F238E27FC236}">
                <a16:creationId xmlns:a16="http://schemas.microsoft.com/office/drawing/2014/main" id="{9A92DF90-D500-48B4-99C7-A1BF085E389C}"/>
              </a:ext>
            </a:extLst>
          </p:cNvPr>
          <p:cNvPicPr>
            <a:picLocks xmlns:a="http://schemas.openxmlformats.org/drawingml/2006/main" noChangeAspect="1"/>
          </p:cNvPicPr>
          <p:nvPr/>
        </p:nvPicPr>
        <p:blipFill>
          <a:blip xmlns:r="http://schemas.openxmlformats.org/officeDocument/2006/relationships" xmlns:a="http://schemas.openxmlformats.org/drawingml/2006/main" r:embed="R0b3431834e7f4b4a"/>
          <a:stretch xmlns:a="http://schemas.openxmlformats.org/drawingml/2006/main"/>
        </p:blipFill>
        <p:spPr>
          <a:xfrm xmlns:a="http://schemas.openxmlformats.org/drawingml/2006/main">
            <a:off x="771958" y="2038350"/>
            <a:ext cx="3675784" cy="2857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42C2D94A-98FA-42B3-8A4D-E8670E66060B}"/>
              </a:ext>
            </a:extLst>
          </p:cNvPr>
          <p:cNvPicPr>
            <a:picLocks xmlns:a="http://schemas.openxmlformats.org/drawingml/2006/main" noChangeAspect="1"/>
          </p:cNvPicPr>
          <p:nvPr/>
        </p:nvPicPr>
        <p:blipFill>
          <a:blip xmlns:r="http://schemas.openxmlformats.org/officeDocument/2006/relationships" xmlns:a="http://schemas.openxmlformats.org/drawingml/2006/main" r:embed="Rfc9a404cb12f44d0"/>
          <a:stretch xmlns:a="http://schemas.openxmlformats.org/drawingml/2006/main"/>
        </p:blipFill>
        <p:spPr>
          <a:xfrm xmlns:a="http://schemas.openxmlformats.org/drawingml/2006/main">
            <a:off x="4914900" y="2218356"/>
            <a:ext cx="6667500" cy="249748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8F41806-C37B-40D4-BB61-EC96FBE44B8B}"/>
              </a:ext>
            </a:extLst>
          </p:cNvPr>
          <p:cNvSpPr>
            <a:spLocks xmlns:a="http://schemas.openxmlformats.org/drawingml/2006/main" noGrp="1"/>
          </p:cNvSpPr>
          <p:nvPr/>
        </p:nvSpPr>
        <p:spPr>
          <a:xfrm xmlns:a="http://schemas.openxmlformats.org/drawingml/2006/main">
            <a:off x="609600" y="49720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Screen: /app/home-feed</a:t>
            </a:r>
          </a:p>
        </p:txBody>
      </p:sp>
      <p:sp>
        <p:nvSpPr>
          <p:cNvPr id="9" name="">
            <a:extLst xmlns:a="http://schemas.openxmlformats.org/drawingml/2006/main">
              <a:ext uri="{FF2B5EF4-FFF2-40B4-BE49-F238E27FC236}">
                <a16:creationId xmlns:a16="http://schemas.microsoft.com/office/drawing/2014/main" id="{B5259394-5FD2-46BD-B53C-D3274DF1FA33}"/>
              </a:ext>
            </a:extLst>
          </p:cNvPr>
          <p:cNvSpPr>
            <a:spLocks xmlns:a="http://schemas.openxmlformats.org/drawingml/2006/main" noGrp="1"/>
          </p:cNvSpPr>
          <p:nvPr/>
        </p:nvSpPr>
        <p:spPr>
          <a:xfrm xmlns:a="http://schemas.openxmlformats.org/drawingml/2006/main">
            <a:off x="4914900" y="4972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125" b="0">
                <a:solidFill>
                  <a:srgbClr val="56665B"/>
                </a:solidFill>
                <a:latin typeface="Arial"/>
                <a:ea typeface="Arial"/>
                <a:cs typeface="Arial"/>
              </a:rPr>
              <a:t>Source: FoodCard.jsx, lines 66 to 74</a:t>
            </a:r>
          </a:p>
        </p:txBody>
      </p:sp>
      <p:sp>
        <p:nvSpPr>
          <p:cNvPr id="10" name="">
            <a:extLst xmlns:a="http://schemas.openxmlformats.org/drawingml/2006/main">
              <a:ext uri="{FF2B5EF4-FFF2-40B4-BE49-F238E27FC236}">
                <a16:creationId xmlns:a16="http://schemas.microsoft.com/office/drawing/2014/main" id="{4D8A5CAF-90C5-4997-8CC6-0B047C5C001B}"/>
              </a:ext>
            </a:extLst>
          </p:cNvPr>
          <p:cNvSpPr>
            <a:spLocks xmlns:a="http://schemas.openxmlformats.org/drawingml/2006/main" noGrp="1"/>
          </p:cNvSpPr>
          <p:nvPr/>
        </p:nvSpPr>
        <p:spPr>
          <a:xfrm xmlns:a="http://schemas.openxmlformats.org/drawingml/2006/main">
            <a:off x="609600" y="53911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050" b="1">
                <a:solidFill>
                  <a:srgbClr val="26783B"/>
                </a:solidFill>
                <a:latin typeface="Arial"/>
                <a:ea typeface="Arial"/>
                <a:cs typeface="Arial"/>
              </a:rPr>
              <a:t>PRESENTER CUE</a:t>
            </a:r>
          </a:p>
        </p:txBody>
      </p:sp>
      <p:sp>
        <p:nvSpPr>
          <p:cNvPr id="11" name="">
            <a:extLst xmlns:a="http://schemas.openxmlformats.org/drawingml/2006/main">
              <a:ext uri="{FF2B5EF4-FFF2-40B4-BE49-F238E27FC236}">
                <a16:creationId xmlns:a16="http://schemas.microsoft.com/office/drawing/2014/main" id="{AD047D4D-7DDF-455E-9542-A6A843F7B99E}"/>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1650" b="0">
                <a:solidFill>
                  <a:srgbClr val="182019"/>
                </a:solidFill>
                <a:latin typeface="Arial"/>
                <a:ea typeface="Arial"/>
                <a:cs typeface="Arial"/>
              </a:rPr>
              <a:t>expiresAt, diffMinutes, hoursLeft, and minsLeft make the countdown logic easier to follow.</a:t>
            </a:r>
          </a:p>
        </p:txBody>
      </p:sp>
      <p:sp>
        <p:nvSpPr>
          <p:cNvPr id="12" name="">
            <a:extLst xmlns:a="http://schemas.openxmlformats.org/drawingml/2006/main">
              <a:ext uri="{FF2B5EF4-FFF2-40B4-BE49-F238E27FC236}">
                <a16:creationId xmlns:a16="http://schemas.microsoft.com/office/drawing/2014/main" id="{94DEE147-43ED-4451-8717-2BD6341BD245}"/>
              </a:ext>
            </a:extLst>
          </p:cNvPr>
          <p:cNvSpPr>
            <a:spLocks xmlns:a="http://schemas.openxmlformats.org/drawingml/2006/main" noGrp="1"/>
          </p:cNvSpPr>
          <p:nvPr/>
        </p:nvSpPr>
        <p:spPr>
          <a:xfrm xmlns:a="http://schemas.openxmlformats.org/drawingml/2006/main">
            <a:off x="609600" y="6477000"/>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lvl1pPr algn="l">
              <a:defRPr/>
            </a:lvl1pPr>
            <a:lvl2pPr algn="l">
              <a:defRPr/>
            </a:lvl2pPr>
            <a:lvl3pPr algn="l">
              <a:defRPr/>
            </a:lvl3pPr>
            <a:lvl4pPr algn="l">
              <a:defRPr/>
            </a:lvl4pPr>
            <a:lvl5pPr algn="l">
              <a:defRPr/>
            </a:lvl5pPr>
            <a:lvl6pPr algn="l">
              <a:defRPr/>
            </a:lvl6pPr>
            <a:lvl7pPr algn="l">
              <a:defRPr/>
            </a:lvl7pPr>
            <a:lvl8pPr algn="l">
              <a:defRPr/>
            </a:lvl8pPr>
            <a:lvl9pPr algn="l">
              <a:defRPr/>
            </a:lvl9pPr>
          </a:lstStyle>
          <a:p xmlns:a="http://schemas.openxmlformats.org/drawingml/2006/main">
            <a:pPr algn="l"/>
            <a:r>
              <a:rPr sz="975" b="0">
                <a:solidFill>
                  <a:srgbClr val="56665B"/>
                </a:solidFill>
                <a:latin typeface="Arial"/>
                <a:ea typeface="Arial"/>
                <a:cs typeface="Arial"/>
              </a:rPr>
              <a:t>Built-in demo capture. No post or claim was submitted while preparing this deck.</a:t>
            </a:r>
          </a:p>
        </p:txBody>
      </p:sp>
      <p:sp>
        <p:nvSpPr>
          <p:cNvPr id="13" name="">
            <a:extLst xmlns:a="http://schemas.openxmlformats.org/drawingml/2006/main">
              <a:ext uri="{FF2B5EF4-FFF2-40B4-BE49-F238E27FC236}">
                <a16:creationId xmlns:a16="http://schemas.microsoft.com/office/drawing/2014/main" id="{1124B6F4-EBBF-42A6-AE89-3413731E51C4}"/>
              </a:ext>
            </a:extLst>
          </p:cNvPr>
          <p:cNvSpPr>
            <a:spLocks xmlns:a="http://schemas.openxmlformats.org/drawingml/2006/main" noGrp="1"/>
          </p:cNvSpPr>
          <p:nvPr/>
        </p:nvSpPr>
        <p:spPr>
          <a:xfrm xmlns:a="http://schemas.openxmlformats.org/drawingml/2006/main">
            <a:off x="11087100" y="64389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lvl1pPr algn="r">
              <a:defRPr/>
            </a:lvl1pPr>
            <a:lvl2pPr algn="r">
              <a:defRPr/>
            </a:lvl2pPr>
            <a:lvl3pPr algn="r">
              <a:defRPr/>
            </a:lvl3pPr>
            <a:lvl4pPr algn="r">
              <a:defRPr/>
            </a:lvl4pPr>
            <a:lvl5pPr algn="r">
              <a:defRPr/>
            </a:lvl5pPr>
            <a:lvl6pPr algn="r">
              <a:defRPr/>
            </a:lvl6pPr>
            <a:lvl7pPr algn="r">
              <a:defRPr/>
            </a:lvl7pPr>
            <a:lvl8pPr algn="r">
              <a:defRPr/>
            </a:lvl8pPr>
            <a:lvl9pPr algn="r">
              <a:defRPr/>
            </a:lvl9pPr>
          </a:lstStyle>
          <a:p xmlns:a="http://schemas.openxmlformats.org/drawingml/2006/main">
            <a:pPr algn="r"/>
            <a:r>
              <a:rPr sz="1125" b="1">
                <a:solidFill>
                  <a:srgbClr val="26783B"/>
                </a:solidFill>
                <a:latin typeface="Arial"/>
                <a:ea typeface="Arial"/>
                <a:cs typeface="Arial"/>
              </a:rPr>
              <a:t>07</a:t>
            </a:r>
          </a:p>
        </p:txBody>
      </p:sp>
    </p:spTree>
    <p:extLst>
      <p:ext uri="{BB962C8B-B14F-4D97-AF65-F5344CB8AC3E}">
        <p14:creationId xmlns:p14="http://schemas.microsoft.com/office/powerpoint/2010/main" val="2991097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2026-10-17T09:36:04.6650000Z</dcterms:created>
  <dcterms:modified xsi:type="dcterms:W3CDTF">2026-10-17T09:36:04.6650000Z</dcterms:modified>
</coreProperties>
</file>